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Good morning. Over the next twenty minutes I will show you a hundred-million-dollar equity portfolio built as a mixed-integer quadratic programme, and I will spend most of the time on why each choice was made rather than on what the model produced. Every methodology decision in this deck arrives with the measurement that decided it. Two of the slides say outright that our recommended book has no statistically significant edge — I would rather volunteer that than have it extracted.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The brief fixes four conditions and leaves the most important input unspecified: how much risk the fund wants. So the deliverable cannot be one portfolio. We solve fifteen points along the frontier and report three of them. The left column is the brief's own conditions; the right is what we added, and I will show you the measured cost of each. Worth noting now: the ESG requirement that carries almost the entire cost is the one the brief itself imposed — the per-stock floor we added is free.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Sixteen names leave the universe and both reasons are mechanical. Six lost their total-return series entirely — 2,870 of 2,870 values absent — and three of those six are REITs, whose dividend adjustment factors are the largest, so the extraction most likely failed on them. We dropped them rather than substituting the unadjusted series, because an unadjusted series carries about three percentage points less return and the optimiser would then punish those stocks for a data defect. Ten more fall below our per-stock ESG floor. No name is excluded by opinion.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The natural objection is that currency cannot matter because returns are ratios. That holds for a constant, and an exchange rate is not constant. Take logs and the FX term is additive, so it survives into the return series — and because every stock in a currency shares it, it is a common factor, exactly what a covariance matrix exists to capture. The left panel is the same weight vector priced two ways. The right panel is the consequence: a local-currency covariance tells the minimum-variance book it carries 8.46% risk when it actually carries 10.13%. Understating risk is the one failure a risk-averse mandate cannot tolerate.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A closing price omits dividends, and the bias is not neutral — it falls hardest on the high-yield, low-volatility names a minimum-variance book is made of. Median expected return moves from 7.80% to 10.39%. We did not simply trust the vendor's adjusted file: the adjustment ratio is anchored at 1.00 at the most recent date, volatility is unchanged at 31.05% against 31.08% because dividends add drift and not noise, and the uplift is ordered by dividend yield across sectors. Any one of those failing would have meant a broken series.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A ten-year sample mean is a noisy estimate, and a mean-variance optimiser is not a passive reader of its inputs: it actively hunts for the highest-return assets, so it preferentially buys whatever the estimation error flattered. It is an error maximiser. James-Stein shrinkage pulls each estimate toward the grand mean of the 989 full-history stocks by an amount proportional to that stock's own standard error. The weight a stock keeps on its own estimate ranges from 0.03 to 0.70. If asked what we tuned: nothing — both quantities in that weight are estimated.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We had to choose a factor count, and it is the most arbitrary-looking parameter in the model, so we measured it. For each k we compared the predicted risk of every frontier portfolio against the risk those weights actually realised. One or two factors understate risk by thirty-eight percent at the minimum-risk point — that is a cliff, and it is the argument against a single-index model. Five factors already crosses zero, but by a third of a point, and ten falls back below zero, which tells us that region is measurement noise rather than signal. Twenty is the smallest count whose margin is wide enough that the answer does not depend on which portfolio the optimiser picks.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The objective is quadratic and the variables include one binary per stock, and both of those were tested rather than assumed. A linear risk proxy is tempting because it turns this into a MILP, but it cannot see correlation — it treats two perfectly correlated stocks as diversification — and the book it picks carries nineteen percent more true risk while misreporting itself by a factor of 1.64. Semi-continuous variables would remove a thousand binaries, but then nothing counts holdings, and the model reported thirty positions while holding twenty-six. This slide also answers why there is no risk-aversion parameter: we sweep the return target instead, because a weighted sum only reaches the convex hull of a non-convex frontier.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Every constraint here has a measured price in percentage points of expected return at the recommended profile, so if the investment committee wants to change one we can quote the cost immediately. Two things to notice. The expensive constraint is the brief's own weighted-average ESG rule at 0.151 points; our per-stock floor measures plus 0.008, which is inside the noise — it does not cost return. And the Rheinmetall figure is the strongest single illustration that an ESG score measures governance and disclosure quality, not what a company makes. A well-run munitions manufacturer scores 87.3. No ESG threshold fixes that, which is why the weapons screen is explicit and separate.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 I will pause for a moment and let the shape land. Fifteen separate MIQP solves, the return target swept between the two corners. The shape is the argument: steep on the left, flat on the right, and past roughly fourteen percent volatility extra risk buys very little extra return. The shaded region on the right is excluded by a degeneracy test I will explain in two slides. The three marked points are the mandates we report, and the largest marker is the one we recommend.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Three points, three rules, and none of them has a free parameter. Risk Averse is the global minimum-variance portfolio. Neutral is the highest return-to-risk ratio on the frontier, which is why we can recommend it without asking anyone to nominate a risk aversion coefficient. Risk Prone is the highest return among the points that pass a degeneracy test. Weighted ESG is exactly seventy in all three, because that constraint binds everywhere. The recommendation holds thirty stocks with no position at either the twenty percent cap or the one percent floor.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This slide exists to pre-empt the most likely challenge: why not report the maximum-return portfolio. Because at point fourteen sixty percent of the budget sits in three stocks and twenty-three of thirty positions are pinned at the one percent floor, and its return-to-risk ratio of 0.779 is worse than the risk-averse book's 1.067. It is a corner of the feasible set. If asked where the thresholds come from: they were a judgement call originally, so we swept them on a nine-by-nine grid — point eleven is selected for any floor threshold between ten and fifteen, and at thirty holdings fifteen simply means more than half the book at minimum weight.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Two findings on one slide. Weighted ESG sits at exactly seventy at all fifteen points, so that constraint is always active — and, as we saw, it is also the expensive one. Then the gap: the brief caps regions and we capped sectors, and Switzerland slipped between the two, because it is not a region and it spans two sectors — cantonal banks and real estate. It reaches forty-seven percent of the risk-averse book, and Switzerland plus the United States is ninety-two percent of it. We built a country cap, measured it at 0.067 points of return, and it ships switched off pending your decision. The US exemption is not a preference: the solver proves it with an infeasibility of exactly 0.15.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Two things a Sharpe ratio cannot show you. First, capture asymmetry: the recommended book takes 103% of the benchmark's up months and only 90% of its down months, over 58 up and 34 down months. That asymmetry is the real argument for the recommendation. Second, the cost of the min-variance book's shallower drawdown is duration — its longest unbroken stretch below peak is 661 trading days against the benchmark's 396, and after 2022 it took 462 trading days from trough to recovery against the benchmark's 204. A note for the record: the recovery figures circulated in an earlier draft could not be reproduced, so these are the trough-to-recovery numbers that do trace.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The protocol: a three-year rolling estimation window, quarterly rebalancing, thirty-one rebalances over 7.7 years, and at each date only data strictly before it. We express the return-seeking profile as a relative mandate — give up at most twenty percent of the achievable maximum — because an absolute return target is not comparable across regimes; the same target is easy in 2021 and infeasible in 2018. Read the table across rather than down: the higher CAGR comes with proportionally higher volatility and a deeper drawdown, and the Sharpe column barely separates.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This is the slide I would most want you to take away. The correct test for a difference of Sharpe ratios is Jobson-Korkie with the Memmel correction, not a t-test on daily return differences, because Sharpe differences are not normally distributed. It gives z of -0.15, +0.05 and +0.18. Every one is inside the band, and the conclusion is unchanged from the simpler test but no longer attackable on distributional grounds. Note the direction: this cuts against our own return-seeking book as much as it cuts against the claim that the optimiser destroys value. And after ten basis points of costs that book falls below the benchmark outright.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This is the quantitative evidence behind everything I have said about the return estimate. At each of thirty-one rebalances the model states an expected return; here it is against what those exact weights then earned. The correlation is minus 0.43 with a p-value of 0.016 — not merely uninformative, actively inverted. It predicted an average of 47.3% and realised 31.5%. The minimum-variance book, which barely uses the return estimate, predicted 9.7% and realised 15.6% — it under-promises. The optimiser is an error maximiser and this is the picture of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Two panels kept deliberately apart. Panel A holds the delivered books through the same windows their inputs were estimated over — it wins seven of seven and we do not present it as evidence, because the optimiser had already seen those crises. Panel B re-estimates on the three years strictly before each window and re-solves. There, minimum variance beats the benchmark in all three crisis windows and the recommended book in one of three. And the right-hand panel is the number I would not want extracted from me: in the COVID crash the recommended construction realised 6.71 times the risk it had forecast.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I will state the recommendation conditionally, because the estimate and the evidence point to different ends of the frontier and pretending otherwise invites the obvious attack. If you accept mu as the best available estimate, take Neutral: it is the highest return-to-risk point on the frontier, it captures more upside than downside, and the mandate asks for growth. If you weight out-of-sample evidence above the estimate, take Risk Averse: it beats the benchmark in every crisis window and cuts volatility by twenty-two percent. Neither claim extends to a statistically demonstrable risk-adjusted edge, and there are three limitations this dataset cannot fix.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Backup slides from here. I will go to these only if asked.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full sweep. The error is predicted risk over realised risk minus one, at the minimum-risk point, and negative means the model understates. Note that this is an in-sample consistency check: it asks whether the optimiser can game a covariance that assumes diagonal residuals, not whether that covariance predicts the future.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These are principal components, not factors we named in advance. Factor two is worth the detail: we added an explicit Europe-versus-US factor as a test and it barely moved the residual correlation, because PCA had already found that split by itself. The failure was never which factor is named — it is how much variance is left in the residual block the model treats as independent.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window length is the input this model is least robust to, and we choose it. Re-estimating mu and sigma on five and three years makes the book look dramatically better — a ratio of 3.24 on three years against 1.35 on ten — while sharing only eleven of thirty-eight names with the ten-year book and a weight correlation of minus 0.019. That is not an alternative recommendation, it is estimation error.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simpler protocol was proposed: three chunks, two rebalance points. We declined it on the argument that two out-of-sample observations cannot separate skill from luck, and then we tested that argument rather than leaving it as an assertion. The same protocol with two equally defensible split dates says the book beats the benchmark on one and loses on the other — a spread of 0.331 from nothing but the boundary.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Every rebuild in this project is gated against something it must reproduce, and the gates caught three real defects. The deck-building script read a file from a temporary directory that nothing in the repository wrote, so it worked on one machine and crashed everywhere else. Two backtest inputs were read but never written. And counting positions at the one percent floor with a tolerance of ten to the minus six reported zero where there was plainly one, because the MIP gap leaves the smallest holding five parts per million above the bound.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Two tiers, deliberately separated. Tier one is the narrow, near-consensus case following Norwegian sovereign-fund precedent, and is always excluded. Tier two is diversified defence, where defence is a major but not the sole segment — that category is genuinely contested after 2022, so it is a toggle and we can quote its cost rather than baking in a judgement. The data defect is worth telling: four of ten tier-two tickers did not exist in this dataset, so the screen was silently excluding six of ten.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Worth saying before anyone offers it as an alternative. Equal weight over 1,077 names puts 0.093 percent in each, against a one percent floor, and no equal-weight portfolio over more than a hundred names can satisfy that floor at all. The unscreened variants also miss weighted ESG of seventy. And the ESG-screened variant clears ESG and then breaks the region cap, because the high-ESG half of this universe is sixty-three percent European. Also: the choice of rebalancing frequency moves the benchmark by nine tenths of a point of CAGR, which is larger than most differences we report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volatility edge is not an artefact of one period. Minimum variance realises lower volatility in five of the six regimes, and the two it wins outright on return are the two drawdowns. What it gives up is the boom and the AI rally, which is exactly what a low-volatility book should do.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Conditional value at risk is the mean of the worst five percent of days, and it is the statistic a mandate holder actually feels. Minimum variance loses 1.75 percent on such a day against the benchmark's 2.51. Both return-seeking books are worse than the benchmark on this measure, which is the same story as the drawdown column but in the tail rather than the peak-to-trough.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01_title_backdrop.png"/>
          <p:cNvPicPr>
            <a:picLocks noChangeAspect="1"/>
          </p:cNvPicPr>
          <p:nvPr/>
        </p:nvPicPr>
        <p:blipFill>
          <a:blip r:embed="rId2"/>
          <a:stretch>
            <a:fillRect/>
          </a:stretch>
        </p:blipFill>
        <p:spPr>
          <a:xfrm>
            <a:off x="91440" y="4320341"/>
            <a:ext cx="12008815" cy="2149237"/>
          </a:xfrm>
          <a:prstGeom prst="rect">
            <a:avLst/>
          </a:prstGeom>
        </p:spPr>
      </p:pic>
      <p:sp>
        <p:nvSpPr>
          <p:cNvPr id="4" name="TextBox 3"/>
          <p:cNvSpPr txBox="1"/>
          <p:nvPr/>
        </p:nvSpPr>
        <p:spPr>
          <a:xfrm>
            <a:off x="777240" y="1600200"/>
            <a:ext cx="10607040" cy="1005840"/>
          </a:xfrm>
          <a:prstGeom prst="rect">
            <a:avLst/>
          </a:prstGeom>
          <a:noFill/>
        </p:spPr>
        <p:txBody>
          <a:bodyPr wrap="square" anchor="t">
            <a:spAutoFit/>
          </a:bodyPr>
          <a:lstStyle/>
          <a:p>
            <a:pPr algn="l">
              <a:lnSpc>
                <a:spcPct val="100000"/>
              </a:lnSpc>
            </a:pPr>
            <a:r>
              <a:rPr sz="5400" b="1" i="0">
                <a:solidFill>
                  <a:srgbClr val="12283F"/>
                </a:solidFill>
                <a:latin typeface="Arial"/>
              </a:rPr>
              <a:t>SustainaFund</a:t>
            </a:r>
          </a:p>
        </p:txBody>
      </p:sp>
      <p:sp>
        <p:nvSpPr>
          <p:cNvPr id="5" name="TextBox 4"/>
          <p:cNvSpPr txBox="1"/>
          <p:nvPr/>
        </p:nvSpPr>
        <p:spPr>
          <a:xfrm>
            <a:off x="777240" y="2697480"/>
            <a:ext cx="9509760" cy="914400"/>
          </a:xfrm>
          <a:prstGeom prst="rect">
            <a:avLst/>
          </a:prstGeom>
          <a:noFill/>
        </p:spPr>
        <p:txBody>
          <a:bodyPr wrap="square" anchor="t">
            <a:spAutoFit/>
          </a:bodyPr>
          <a:lstStyle/>
          <a:p>
            <a:pPr algn="l">
              <a:lnSpc>
                <a:spcPct val="125000"/>
              </a:lnSpc>
            </a:pPr>
            <a:r>
              <a:rPr sz="1700" b="0" i="0">
                <a:solidFill>
                  <a:srgbClr val="33475B"/>
                </a:solidFill>
                <a:latin typeface="Arial"/>
              </a:rPr>
              <a:t>A $100 million ESG-constrained equity portfolio — efficient frontier, three mandates, and what survived out-of-sample testing</a:t>
            </a:r>
          </a:p>
        </p:txBody>
      </p:sp>
      <p:sp>
        <p:nvSpPr>
          <p:cNvPr id="6" name="TextBox 5"/>
          <p:cNvSpPr txBox="1"/>
          <p:nvPr/>
        </p:nvSpPr>
        <p:spPr>
          <a:xfrm>
            <a:off x="777240" y="3794760"/>
            <a:ext cx="9509760" cy="365760"/>
          </a:xfrm>
          <a:prstGeom prst="rect">
            <a:avLst/>
          </a:prstGeom>
          <a:noFill/>
        </p:spPr>
        <p:txBody>
          <a:bodyPr wrap="square" anchor="t">
            <a:spAutoFit/>
          </a:bodyPr>
          <a:lstStyle/>
          <a:p>
            <a:pPr algn="l">
              <a:lnSpc>
                <a:spcPct val="100000"/>
              </a:lnSpc>
            </a:pPr>
            <a:r>
              <a:rPr sz="1200" b="0" i="0">
                <a:solidFill>
                  <a:srgbClr val="7C8B99"/>
                </a:solidFill>
                <a:latin typeface="Arial"/>
              </a:rPr>
              <a:t>HTW Berlin Summer School 2026 · FICO Xpress case study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0" i="0">
                <a:solidFill>
                  <a:srgbClr val="DDE3E8"/>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1" i="0">
                <a:solidFill>
                  <a:srgbClr val="12283F"/>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The deliverable is a frontier, not a single portfolio</a:t>
            </a:r>
          </a:p>
        </p:txBody>
      </p:sp>
      <p:sp>
        <p:nvSpPr>
          <p:cNvPr id="10" name="TextBox 9"/>
          <p:cNvSpPr txBox="1"/>
          <p:nvPr/>
        </p:nvSpPr>
        <p:spPr>
          <a:xfrm>
            <a:off x="566928" y="1353312"/>
            <a:ext cx="2286000" cy="566928"/>
          </a:xfrm>
          <a:prstGeom prst="rect">
            <a:avLst/>
          </a:prstGeom>
          <a:noFill/>
        </p:spPr>
        <p:txBody>
          <a:bodyPr wrap="square" anchor="t">
            <a:spAutoFit/>
          </a:bodyPr>
          <a:lstStyle/>
          <a:p>
            <a:pPr algn="l">
              <a:lnSpc>
                <a:spcPct val="100000"/>
              </a:lnSpc>
            </a:pPr>
            <a:r>
              <a:rPr sz="4000" b="1" i="0">
                <a:solidFill>
                  <a:srgbClr val="12283F"/>
                </a:solidFill>
                <a:latin typeface="Arial"/>
              </a:rPr>
              <a:t>$100M</a:t>
            </a:r>
          </a:p>
        </p:txBody>
      </p:sp>
      <p:sp>
        <p:nvSpPr>
          <p:cNvPr id="11" name="TextBox 10"/>
          <p:cNvSpPr txBox="1"/>
          <p:nvPr/>
        </p:nvSpPr>
        <p:spPr>
          <a:xfrm>
            <a:off x="566928" y="1920240"/>
            <a:ext cx="2286000" cy="274320"/>
          </a:xfrm>
          <a:prstGeom prst="rect">
            <a:avLst/>
          </a:prstGeom>
          <a:noFill/>
        </p:spPr>
        <p:txBody>
          <a:bodyPr wrap="square" anchor="t">
            <a:spAutoFit/>
          </a:bodyPr>
          <a:lstStyle/>
          <a:p>
            <a:pPr algn="l">
              <a:lnSpc>
                <a:spcPct val="100000"/>
              </a:lnSpc>
            </a:pPr>
            <a:r>
              <a:rPr sz="1200" b="0" i="0">
                <a:solidFill>
                  <a:srgbClr val="7C8B99"/>
                </a:solidFill>
                <a:latin typeface="Arial"/>
              </a:rPr>
              <a:t>budget</a:t>
            </a:r>
          </a:p>
        </p:txBody>
      </p:sp>
      <p:sp>
        <p:nvSpPr>
          <p:cNvPr id="12" name="TextBox 11"/>
          <p:cNvSpPr txBox="1"/>
          <p:nvPr/>
        </p:nvSpPr>
        <p:spPr>
          <a:xfrm>
            <a:off x="3035808" y="1353312"/>
            <a:ext cx="2286000" cy="566928"/>
          </a:xfrm>
          <a:prstGeom prst="rect">
            <a:avLst/>
          </a:prstGeom>
          <a:noFill/>
        </p:spPr>
        <p:txBody>
          <a:bodyPr wrap="square" anchor="t">
            <a:spAutoFit/>
          </a:bodyPr>
          <a:lstStyle/>
          <a:p>
            <a:pPr algn="l">
              <a:lnSpc>
                <a:spcPct val="100000"/>
              </a:lnSpc>
            </a:pPr>
            <a:r>
              <a:rPr sz="4000" b="1" i="0">
                <a:solidFill>
                  <a:srgbClr val="12283F"/>
                </a:solidFill>
                <a:latin typeface="Arial"/>
              </a:rPr>
              <a:t>1,077</a:t>
            </a:r>
          </a:p>
        </p:txBody>
      </p:sp>
      <p:sp>
        <p:nvSpPr>
          <p:cNvPr id="13" name="TextBox 12"/>
          <p:cNvSpPr txBox="1"/>
          <p:nvPr/>
        </p:nvSpPr>
        <p:spPr>
          <a:xfrm>
            <a:off x="3035808" y="1920240"/>
            <a:ext cx="2286000" cy="274320"/>
          </a:xfrm>
          <a:prstGeom prst="rect">
            <a:avLst/>
          </a:prstGeom>
          <a:noFill/>
        </p:spPr>
        <p:txBody>
          <a:bodyPr wrap="square" anchor="t">
            <a:spAutoFit/>
          </a:bodyPr>
          <a:lstStyle/>
          <a:p>
            <a:pPr algn="l">
              <a:lnSpc>
                <a:spcPct val="100000"/>
              </a:lnSpc>
            </a:pPr>
            <a:r>
              <a:rPr sz="1200" b="0" i="0">
                <a:solidFill>
                  <a:srgbClr val="7C8B99"/>
                </a:solidFill>
                <a:latin typeface="Arial"/>
              </a:rPr>
              <a:t>investable stocks</a:t>
            </a:r>
          </a:p>
        </p:txBody>
      </p:sp>
      <p:sp>
        <p:nvSpPr>
          <p:cNvPr id="14" name="TextBox 13"/>
          <p:cNvSpPr txBox="1"/>
          <p:nvPr/>
        </p:nvSpPr>
        <p:spPr>
          <a:xfrm>
            <a:off x="5504688" y="1353312"/>
            <a:ext cx="2286000" cy="566928"/>
          </a:xfrm>
          <a:prstGeom prst="rect">
            <a:avLst/>
          </a:prstGeom>
          <a:noFill/>
        </p:spPr>
        <p:txBody>
          <a:bodyPr wrap="square" anchor="t">
            <a:spAutoFit/>
          </a:bodyPr>
          <a:lstStyle/>
          <a:p>
            <a:pPr algn="l">
              <a:lnSpc>
                <a:spcPct val="100000"/>
              </a:lnSpc>
            </a:pPr>
            <a:r>
              <a:rPr sz="4000" b="1" i="0">
                <a:solidFill>
                  <a:srgbClr val="12283F"/>
                </a:solidFill>
                <a:latin typeface="Arial"/>
              </a:rPr>
              <a:t>15</a:t>
            </a:r>
          </a:p>
        </p:txBody>
      </p:sp>
      <p:sp>
        <p:nvSpPr>
          <p:cNvPr id="15" name="TextBox 14"/>
          <p:cNvSpPr txBox="1"/>
          <p:nvPr/>
        </p:nvSpPr>
        <p:spPr>
          <a:xfrm>
            <a:off x="5504688" y="1920240"/>
            <a:ext cx="2286000" cy="274320"/>
          </a:xfrm>
          <a:prstGeom prst="rect">
            <a:avLst/>
          </a:prstGeom>
          <a:noFill/>
        </p:spPr>
        <p:txBody>
          <a:bodyPr wrap="square" anchor="t">
            <a:spAutoFit/>
          </a:bodyPr>
          <a:lstStyle/>
          <a:p>
            <a:pPr algn="l">
              <a:lnSpc>
                <a:spcPct val="100000"/>
              </a:lnSpc>
            </a:pPr>
            <a:r>
              <a:rPr sz="1200" b="0" i="0">
                <a:solidFill>
                  <a:srgbClr val="7C8B99"/>
                </a:solidFill>
                <a:latin typeface="Arial"/>
              </a:rPr>
              <a:t>frontier points</a:t>
            </a:r>
          </a:p>
        </p:txBody>
      </p:sp>
      <p:graphicFrame>
        <p:nvGraphicFramePr>
          <p:cNvPr id="16" name="Table 15"/>
          <p:cNvGraphicFramePr>
            <a:graphicFrameLocks noGrp="1"/>
          </p:cNvGraphicFramePr>
          <p:nvPr/>
        </p:nvGraphicFramePr>
        <p:xfrm>
          <a:off x="640080" y="2359152"/>
          <a:ext cx="10881359" cy="1865376"/>
        </p:xfrm>
        <a:graphic>
          <a:graphicData uri="http://schemas.openxmlformats.org/drawingml/2006/table">
            <a:tbl>
              <a:tblPr firstRow="1" bandRow="1">
                <a:tableStyleId>{5C22544A-7EE6-4342-B048-85BDC9FD1C3A}</a:tableStyleId>
              </a:tblPr>
              <a:tblGrid>
                <a:gridCol w="5280659"/>
                <a:gridCol w="5600700"/>
              </a:tblGrid>
              <a:tr h="310896">
                <a:tc>
                  <a:txBody>
                    <a:bodyPr/>
                    <a:lstStyle/>
                    <a:p>
                      <a:r>
                        <a:rPr sz="1100" b="1">
                          <a:solidFill>
                            <a:srgbClr val="12283F"/>
                          </a:solidFill>
                          <a:latin typeface="Arial"/>
                        </a:rPr>
                        <a:t>Given by the brief</a:t>
                      </a:r>
                    </a:p>
                  </a:txBody>
                  <a:tcPr>
                    <a:solidFill>
                      <a:srgbClr val="FBFAF7"/>
                    </a:solidFill>
                  </a:tcPr>
                </a:tc>
                <a:tc>
                  <a:txBody>
                    <a:bodyPr/>
                    <a:lstStyle/>
                    <a:p>
                      <a:r>
                        <a:rPr sz="1100" b="1">
                          <a:solidFill>
                            <a:srgbClr val="C08A2E"/>
                          </a:solidFill>
                          <a:latin typeface="Arial"/>
                        </a:rPr>
                        <a:t>Added by us</a:t>
                      </a:r>
                    </a:p>
                  </a:txBody>
                  <a:tcPr>
                    <a:solidFill>
                      <a:srgbClr val="FBFAF7"/>
                    </a:solidFill>
                  </a:tcPr>
                </a:tc>
              </a:tr>
              <a:tr h="310896">
                <a:tc>
                  <a:txBody>
                    <a:bodyPr/>
                    <a:lstStyle/>
                    <a:p>
                      <a:r>
                        <a:rPr sz="1300" b="0">
                          <a:solidFill>
                            <a:srgbClr val="33475B"/>
                          </a:solidFill>
                          <a:latin typeface="Arial"/>
                        </a:rPr>
                        <a:t>1% ≤ weight ≤ 20% per stock</a:t>
                      </a:r>
                    </a:p>
                  </a:txBody>
                  <a:tcPr>
                    <a:solidFill>
                      <a:srgbClr val="FBFAF7"/>
                    </a:solidFill>
                  </a:tcPr>
                </a:tc>
                <a:tc>
                  <a:txBody>
                    <a:bodyPr/>
                    <a:lstStyle/>
                    <a:p>
                      <a:r>
                        <a:rPr sz="1300" b="0">
                          <a:solidFill>
                            <a:srgbClr val="33475B"/>
                          </a:solidFill>
                          <a:latin typeface="Arial"/>
                        </a:rPr>
                        <a:t>Sector cap 30%</a:t>
                      </a:r>
                    </a:p>
                  </a:txBody>
                  <a:tcPr>
                    <a:solidFill>
                      <a:srgbClr val="FBFAF7"/>
                    </a:solidFill>
                  </a:tcPr>
                </a:tc>
              </a:tr>
              <a:tr h="310896">
                <a:tc>
                  <a:txBody>
                    <a:bodyPr/>
                    <a:lstStyle/>
                    <a:p>
                      <a:r>
                        <a:rPr sz="1300" b="0">
                          <a:solidFill>
                            <a:srgbClr val="33475B"/>
                          </a:solidFill>
                          <a:latin typeface="Arial"/>
                        </a:rPr>
                        <a:t>Each region ≤ 60%</a:t>
                      </a:r>
                    </a:p>
                  </a:txBody>
                  <a:tcPr>
                    <a:solidFill>
                      <a:srgbClr val="FBFAF7"/>
                    </a:solidFill>
                  </a:tcPr>
                </a:tc>
                <a:tc>
                  <a:txBody>
                    <a:bodyPr/>
                    <a:lstStyle/>
                    <a:p>
                      <a:r>
                        <a:rPr sz="1300" b="0">
                          <a:solidFill>
                            <a:srgbClr val="33475B"/>
                          </a:solidFill>
                          <a:latin typeface="Arial"/>
                        </a:rPr>
                        <a:t>Per-stock ESG floor ≥ 30</a:t>
                      </a:r>
                    </a:p>
                  </a:txBody>
                  <a:tcPr>
                    <a:solidFill>
                      <a:srgbClr val="FBFAF7"/>
                    </a:solidFill>
                  </a:tcPr>
                </a:tc>
              </a:tr>
              <a:tr h="310896">
                <a:tc>
                  <a:txBody>
                    <a:bodyPr/>
                    <a:lstStyle/>
                    <a:p>
                      <a:r>
                        <a:rPr sz="1300" b="0">
                          <a:solidFill>
                            <a:srgbClr val="33475B"/>
                          </a:solidFill>
                          <a:latin typeface="Arial"/>
                        </a:rPr>
                        <a:t>At least 30 holdings</a:t>
                      </a:r>
                    </a:p>
                  </a:txBody>
                  <a:tcPr>
                    <a:solidFill>
                      <a:srgbClr val="FBFAF7"/>
                    </a:solidFill>
                  </a:tcPr>
                </a:tc>
                <a:tc>
                  <a:txBody>
                    <a:bodyPr/>
                    <a:lstStyle/>
                    <a:p>
                      <a:r>
                        <a:rPr sz="1300" b="0">
                          <a:solidFill>
                            <a:srgbClr val="33475B"/>
                          </a:solidFill>
                          <a:latin typeface="Arial"/>
                        </a:rPr>
                        <a:t>Tier 1 weapons exclusion (always on)</a:t>
                      </a:r>
                    </a:p>
                  </a:txBody>
                  <a:tcPr>
                    <a:solidFill>
                      <a:srgbClr val="FBFAF7"/>
                    </a:solidFill>
                  </a:tcPr>
                </a:tc>
              </a:tr>
              <a:tr h="310896">
                <a:tc>
                  <a:txBody>
                    <a:bodyPr/>
                    <a:lstStyle/>
                    <a:p>
                      <a:r>
                        <a:rPr sz="1300" b="0">
                          <a:solidFill>
                            <a:srgbClr val="33475B"/>
                          </a:solidFill>
                          <a:latin typeface="Arial"/>
                        </a:rPr>
                        <a:t>Weighted-average ESG ≥ 70</a:t>
                      </a:r>
                    </a:p>
                  </a:txBody>
                  <a:tcPr>
                    <a:solidFill>
                      <a:srgbClr val="FBFAF7"/>
                    </a:solidFill>
                  </a:tcPr>
                </a:tc>
                <a:tc>
                  <a:txBody>
                    <a:bodyPr/>
                    <a:lstStyle/>
                    <a:p>
                      <a:r>
                        <a:rPr sz="1300" b="0">
                          <a:solidFill>
                            <a:srgbClr val="33475B"/>
                          </a:solidFill>
                          <a:latin typeface="Arial"/>
                        </a:rPr>
                        <a:t>Tier 2 weapons exclusion (toggle, off)</a:t>
                      </a:r>
                    </a:p>
                  </a:txBody>
                  <a:tcPr>
                    <a:solidFill>
                      <a:srgbClr val="FBFAF7"/>
                    </a:solidFill>
                  </a:tcPr>
                </a:tc>
              </a:tr>
              <a:tr h="310896">
                <a:tc>
                  <a:txBody>
                    <a:bodyPr/>
                    <a:lstStyle/>
                    <a:p>
                      <a:r>
                        <a:rPr sz="1300" b="0">
                          <a:solidFill>
                            <a:srgbClr val="33475B"/>
                          </a:solidFill>
                          <a:latin typeface="Arial"/>
                        </a:rPr>
                        <a:t> </a:t>
                      </a:r>
                    </a:p>
                  </a:txBody>
                  <a:tcPr>
                    <a:solidFill>
                      <a:srgbClr val="FBFAF7"/>
                    </a:solidFill>
                  </a:tcPr>
                </a:tc>
                <a:tc>
                  <a:txBody>
                    <a:bodyPr/>
                    <a:lstStyle/>
                    <a:p>
                      <a:r>
                        <a:rPr sz="1300" b="0">
                          <a:solidFill>
                            <a:srgbClr val="33475B"/>
                          </a:solidFill>
                          <a:latin typeface="Arial"/>
                        </a:rPr>
                        <a:t>Country cap 25% (built, measured, ships off)</a:t>
                      </a:r>
                    </a:p>
                  </a:txBody>
                  <a:tcPr>
                    <a:solidFill>
                      <a:srgbClr val="FBFAF7"/>
                    </a:solidFill>
                  </a:tcPr>
                </a:tc>
              </a:tr>
            </a:tbl>
          </a:graphicData>
        </a:graphic>
      </p:graphicFrame>
      <p:sp>
        <p:nvSpPr>
          <p:cNvPr id="17" name="TextBox 16"/>
          <p:cNvSpPr txBox="1"/>
          <p:nvPr/>
        </p:nvSpPr>
        <p:spPr>
          <a:xfrm>
            <a:off x="566928" y="4334256"/>
            <a:ext cx="10881360" cy="822960"/>
          </a:xfrm>
          <a:prstGeom prst="rect">
            <a:avLst/>
          </a:prstGeom>
          <a:noFill/>
        </p:spPr>
        <p:txBody>
          <a:bodyPr wrap="square" anchor="t">
            <a:spAutoFit/>
          </a:bodyPr>
          <a:lstStyle/>
          <a:p>
            <a:pPr algn="l">
              <a:lnSpc>
                <a:spcPct val="135000"/>
              </a:lnSpc>
            </a:pPr>
            <a:r>
              <a:rPr sz="1400" b="0" i="0">
                <a:solidFill>
                  <a:srgbClr val="33475B"/>
                </a:solidFill>
                <a:latin typeface="Arial"/>
              </a:rPr>
              <a:t>· Risk appetite was never specified in the brief</a:t>
            </a:r>
          </a:p>
          <a:p>
            <a:pPr algn="l">
              <a:lnSpc>
                <a:spcPct val="135000"/>
              </a:lnSpc>
            </a:pPr>
            <a:r>
              <a:rPr sz="1400" b="0" i="0">
                <a:solidFill>
                  <a:srgbClr val="33475B"/>
                </a:solidFill>
                <a:latin typeface="Arial"/>
              </a:rPr>
              <a:t>· So we solve the whole frontier and report three points</a:t>
            </a:r>
          </a:p>
          <a:p>
            <a:pPr algn="l">
              <a:lnSpc>
                <a:spcPct val="135000"/>
              </a:lnSpc>
            </a:pPr>
            <a:r>
              <a:rPr sz="1400" b="0" i="0">
                <a:solidFill>
                  <a:srgbClr val="33475B"/>
                </a:solidFill>
                <a:latin typeface="Arial"/>
              </a:rPr>
              <a:t>· Every addition of ours is priced later in this deck</a:t>
            </a:r>
          </a:p>
        </p:txBody>
      </p:sp>
      <p:sp>
        <p:nvSpPr>
          <p:cNvPr id="18" name="Rectangle 17"/>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Risk appetite was never given to us, so we report the frontier and three mandates on it.</a:t>
            </a:r>
          </a:p>
        </p:txBody>
      </p:sp>
      <p:sp>
        <p:nvSpPr>
          <p:cNvPr id="20" name="TextBox 19"/>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1" i="0">
                <a:solidFill>
                  <a:srgbClr val="12283F"/>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1,093 tickers in, 1,077 investable out</a:t>
            </a:r>
          </a:p>
        </p:txBody>
      </p:sp>
      <p:pic>
        <p:nvPicPr>
          <p:cNvPr id="10" name="Picture 9" descr="s03_funnel.png"/>
          <p:cNvPicPr>
            <a:picLocks noChangeAspect="1"/>
          </p:cNvPicPr>
          <p:nvPr/>
        </p:nvPicPr>
        <p:blipFill>
          <a:blip r:embed="rId2"/>
          <a:stretch>
            <a:fillRect/>
          </a:stretch>
        </p:blipFill>
        <p:spPr>
          <a:xfrm>
            <a:off x="566928" y="2310258"/>
            <a:ext cx="6903720" cy="2584954"/>
          </a:xfrm>
          <a:prstGeom prst="rect">
            <a:avLst/>
          </a:prstGeom>
        </p:spPr>
      </p:pic>
      <p:sp>
        <p:nvSpPr>
          <p:cNvPr id="11" name="TextBox 10"/>
          <p:cNvSpPr txBox="1"/>
          <p:nvPr/>
        </p:nvSpPr>
        <p:spPr>
          <a:xfrm>
            <a:off x="7726679" y="1399032"/>
            <a:ext cx="3794760" cy="2743200"/>
          </a:xfrm>
          <a:prstGeom prst="rect">
            <a:avLst/>
          </a:prstGeom>
          <a:noFill/>
        </p:spPr>
        <p:txBody>
          <a:bodyPr wrap="square" anchor="t">
            <a:spAutoFit/>
          </a:bodyPr>
          <a:lstStyle/>
          <a:p>
            <a:pPr algn="l">
              <a:lnSpc>
                <a:spcPct val="145000"/>
              </a:lnSpc>
            </a:pPr>
            <a:r>
              <a:rPr sz="1500" b="0" i="0">
                <a:solidFill>
                  <a:srgbClr val="33475B"/>
                </a:solidFill>
                <a:latin typeface="Arial"/>
              </a:rPr>
              <a:t>· Ten years of daily LSEG data, 2015 to 2025</a:t>
            </a:r>
          </a:p>
          <a:p>
            <a:pPr algn="l">
              <a:lnSpc>
                <a:spcPct val="145000"/>
              </a:lnSpc>
            </a:pPr>
            <a:r>
              <a:rPr sz="1500" b="0" i="0">
                <a:solidFill>
                  <a:srgbClr val="33475B"/>
                </a:solidFill>
                <a:latin typeface="Arial"/>
              </a:rPr>
              <a:t>· Converted to USD at daily ECB reference rates</a:t>
            </a:r>
          </a:p>
          <a:p>
            <a:pPr algn="l">
              <a:lnSpc>
                <a:spcPct val="145000"/>
              </a:lnSpc>
            </a:pPr>
            <a:r>
              <a:rPr sz="1500" b="0" i="0">
                <a:solidFill>
                  <a:srgbClr val="33475B"/>
                </a:solidFill>
                <a:latin typeface="Arial"/>
              </a:rPr>
              <a:t>· Total-return prices, not closing prices</a:t>
            </a:r>
          </a:p>
        </p:txBody>
      </p:sp>
      <p:sp>
        <p:nvSpPr>
          <p:cNvPr id="12" name="Rectangle 11"/>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Every exclusion is a written rule applied to all names, not a judgement about a company.</a:t>
            </a:r>
          </a:p>
        </p:txBody>
      </p:sp>
      <p:sp>
        <p:nvSpPr>
          <p:cNvPr id="14" name="TextBox 13"/>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1" i="0">
                <a:solidFill>
                  <a:srgbClr val="12283F"/>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Currency is a risk factor, not a unit conversion</a:t>
            </a:r>
          </a:p>
        </p:txBody>
      </p:sp>
      <p:pic>
        <p:nvPicPr>
          <p:cNvPr id="10" name="Picture 9" descr="s04_fx.png"/>
          <p:cNvPicPr>
            <a:picLocks noChangeAspect="1"/>
          </p:cNvPicPr>
          <p:nvPr/>
        </p:nvPicPr>
        <p:blipFill>
          <a:blip r:embed="rId2"/>
          <a:stretch>
            <a:fillRect/>
          </a:stretch>
        </p:blipFill>
        <p:spPr>
          <a:xfrm>
            <a:off x="566928" y="1718246"/>
            <a:ext cx="6903720" cy="3768979"/>
          </a:xfrm>
          <a:prstGeom prst="rect">
            <a:avLst/>
          </a:prstGeom>
        </p:spPr>
      </p:pic>
      <p:sp>
        <p:nvSpPr>
          <p:cNvPr id="11" name="TextBox 10"/>
          <p:cNvSpPr txBox="1"/>
          <p:nvPr/>
        </p:nvSpPr>
        <p:spPr>
          <a:xfrm>
            <a:off x="7726679" y="1399032"/>
            <a:ext cx="3794760" cy="2743200"/>
          </a:xfrm>
          <a:prstGeom prst="rect">
            <a:avLst/>
          </a:prstGeom>
          <a:noFill/>
        </p:spPr>
        <p:txBody>
          <a:bodyPr wrap="square" anchor="t">
            <a:spAutoFit/>
          </a:bodyPr>
          <a:lstStyle/>
          <a:p>
            <a:pPr algn="l">
              <a:lnSpc>
                <a:spcPct val="145000"/>
              </a:lnSpc>
            </a:pPr>
            <a:r>
              <a:rPr sz="1500" b="0" i="0">
                <a:solidFill>
                  <a:srgbClr val="33475B"/>
                </a:solidFill>
                <a:latin typeface="Arial"/>
              </a:rPr>
              <a:t>· ln(P_usd) = ln(P_local) + ln(fx) — the FX term does not cancel</a:t>
            </a:r>
          </a:p>
          <a:p>
            <a:pPr algn="l">
              <a:lnSpc>
                <a:spcPct val="145000"/>
              </a:lnSpc>
            </a:pPr>
            <a:r>
              <a:rPr sz="1500" b="0" i="0">
                <a:solidFill>
                  <a:srgbClr val="33475B"/>
                </a:solidFill>
                <a:latin typeface="Arial"/>
              </a:rPr>
              <a:t>· FX is 17.6% of total portfolio variance</a:t>
            </a:r>
          </a:p>
          <a:p>
            <a:pPr algn="l">
              <a:lnSpc>
                <a:spcPct val="145000"/>
              </a:lnSpc>
            </a:pPr>
            <a:r>
              <a:rPr sz="1500" b="0" i="0">
                <a:solidFill>
                  <a:srgbClr val="33475B"/>
                </a:solidFill>
                <a:latin typeface="Arial"/>
              </a:rPr>
              <a:t>· A fund reports in one currency, not eight</a:t>
            </a:r>
          </a:p>
        </p:txBody>
      </p:sp>
      <p:sp>
        <p:nvSpPr>
          <p:cNvPr id="12" name="Rectangle 11"/>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Optimising on local-currency returns optimises a return no investor ever receives.</a:t>
            </a:r>
          </a:p>
        </p:txBody>
      </p:sp>
      <p:sp>
        <p:nvSpPr>
          <p:cNvPr id="14" name="TextBox 13"/>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1" i="0">
                <a:solidFill>
                  <a:srgbClr val="12283F"/>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Price returns penalise the stocks min-variance wants</a:t>
            </a:r>
          </a:p>
        </p:txBody>
      </p:sp>
      <p:pic>
        <p:nvPicPr>
          <p:cNvPr id="10" name="Picture 9" descr="s05_dividends.png"/>
          <p:cNvPicPr>
            <a:picLocks noChangeAspect="1"/>
          </p:cNvPicPr>
          <p:nvPr/>
        </p:nvPicPr>
        <p:blipFill>
          <a:blip r:embed="rId2"/>
          <a:stretch>
            <a:fillRect/>
          </a:stretch>
        </p:blipFill>
        <p:spPr>
          <a:xfrm>
            <a:off x="566928" y="1964953"/>
            <a:ext cx="6903720" cy="3275564"/>
          </a:xfrm>
          <a:prstGeom prst="rect">
            <a:avLst/>
          </a:prstGeom>
        </p:spPr>
      </p:pic>
      <p:sp>
        <p:nvSpPr>
          <p:cNvPr id="11" name="TextBox 10"/>
          <p:cNvSpPr txBox="1"/>
          <p:nvPr/>
        </p:nvSpPr>
        <p:spPr>
          <a:xfrm>
            <a:off x="7726679" y="1399032"/>
            <a:ext cx="3794760" cy="2743200"/>
          </a:xfrm>
          <a:prstGeom prst="rect">
            <a:avLst/>
          </a:prstGeom>
          <a:noFill/>
        </p:spPr>
        <p:txBody>
          <a:bodyPr wrap="square" anchor="t">
            <a:spAutoFit/>
          </a:bodyPr>
          <a:lstStyle/>
          <a:p>
            <a:pPr algn="l">
              <a:lnSpc>
                <a:spcPct val="145000"/>
              </a:lnSpc>
            </a:pPr>
            <a:r>
              <a:rPr sz="1500" b="0" i="0">
                <a:solidFill>
                  <a:srgbClr val="33475B"/>
                </a:solidFill>
                <a:latin typeface="Arial"/>
              </a:rPr>
              <a:t>· Stocks with negative expected return: 3 → 0</a:t>
            </a:r>
          </a:p>
          <a:p>
            <a:pPr algn="l">
              <a:lnSpc>
                <a:spcPct val="145000"/>
              </a:lnSpc>
            </a:pPr>
            <a:r>
              <a:rPr sz="1500" b="0" i="0">
                <a:solidFill>
                  <a:srgbClr val="33475B"/>
                </a:solidFill>
                <a:latin typeface="Arial"/>
              </a:rPr>
              <a:t>· Rank correlation 0.972 — levels move, order mostly holds</a:t>
            </a:r>
          </a:p>
          <a:p>
            <a:pPr algn="l">
              <a:lnSpc>
                <a:spcPct val="145000"/>
              </a:lnSpc>
            </a:pPr>
            <a:r>
              <a:rPr sz="1500" b="0" i="0">
                <a:solidFill>
                  <a:srgbClr val="33475B"/>
                </a:solidFill>
                <a:latin typeface="Arial"/>
              </a:rPr>
              <a:t>· We validated the vendor series with three checks</a:t>
            </a:r>
          </a:p>
        </p:txBody>
      </p:sp>
      <p:sp>
        <p:nvSpPr>
          <p:cNvPr id="12" name="Rectangle 11"/>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We tested the adjusted series rather than trusting it: ratio anchored at 1.00, volatility unchanged, uplift ordered by dividend yield.</a:t>
            </a:r>
          </a:p>
        </p:txBody>
      </p:sp>
      <p:sp>
        <p:nvSpPr>
          <p:cNvPr id="14" name="TextBox 13"/>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1" i="0">
                <a:solidFill>
                  <a:srgbClr val="12283F"/>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A 62.6% historical mean is not a forecast</a:t>
            </a:r>
          </a:p>
        </p:txBody>
      </p:sp>
      <p:pic>
        <p:nvPicPr>
          <p:cNvPr id="10" name="Picture 9" descr="s06_shrinkage.png"/>
          <p:cNvPicPr>
            <a:picLocks noChangeAspect="1"/>
          </p:cNvPicPr>
          <p:nvPr/>
        </p:nvPicPr>
        <p:blipFill>
          <a:blip r:embed="rId2"/>
          <a:stretch>
            <a:fillRect/>
          </a:stretch>
        </p:blipFill>
        <p:spPr>
          <a:xfrm>
            <a:off x="566928" y="1890380"/>
            <a:ext cx="6903720" cy="3424710"/>
          </a:xfrm>
          <a:prstGeom prst="rect">
            <a:avLst/>
          </a:prstGeom>
        </p:spPr>
      </p:pic>
      <p:sp>
        <p:nvSpPr>
          <p:cNvPr id="11" name="TextBox 10"/>
          <p:cNvSpPr txBox="1"/>
          <p:nvPr/>
        </p:nvSpPr>
        <p:spPr>
          <a:xfrm>
            <a:off x="7726679" y="1399032"/>
            <a:ext cx="3794760" cy="2743200"/>
          </a:xfrm>
          <a:prstGeom prst="rect">
            <a:avLst/>
          </a:prstGeom>
          <a:noFill/>
        </p:spPr>
        <p:txBody>
          <a:bodyPr wrap="square" anchor="t">
            <a:spAutoFit/>
          </a:bodyPr>
          <a:lstStyle/>
          <a:p>
            <a:pPr algn="l">
              <a:lnSpc>
                <a:spcPct val="145000"/>
              </a:lnSpc>
            </a:pPr>
            <a:r>
              <a:rPr sz="1500" b="0" i="0">
                <a:solidFill>
                  <a:srgbClr val="33475B"/>
                </a:solidFill>
                <a:latin typeface="Arial"/>
              </a:rPr>
              <a:t>· w_i = τ² / (τ² + se_i²), shrinking toward the grand mean</a:t>
            </a:r>
          </a:p>
          <a:p>
            <a:pPr algn="l">
              <a:lnSpc>
                <a:spcPct val="145000"/>
              </a:lnSpc>
            </a:pPr>
            <a:r>
              <a:rPr sz="1500" b="0" i="0">
                <a:solidFill>
                  <a:srgbClr val="33475B"/>
                </a:solidFill>
                <a:latin typeface="Arial"/>
              </a:rPr>
              <a:t>· Both τ² and se² are estimated from the data</a:t>
            </a:r>
          </a:p>
          <a:p>
            <a:pPr algn="l">
              <a:lnSpc>
                <a:spcPct val="145000"/>
              </a:lnSpc>
            </a:pPr>
            <a:r>
              <a:rPr sz="1500" b="0" i="0">
                <a:solidFill>
                  <a:srgbClr val="33475B"/>
                </a:solidFill>
                <a:latin typeface="Arial"/>
              </a:rPr>
              <a:t>· No tuning parameter anywhere in the estimator</a:t>
            </a:r>
          </a:p>
        </p:txBody>
      </p:sp>
      <p:sp>
        <p:nvSpPr>
          <p:cNvPr id="12" name="Rectangle 11"/>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The amount of shrinkage is measured, not chosen — there is no knob for a referee to attack.</a:t>
            </a:r>
          </a:p>
        </p:txBody>
      </p:sp>
      <p:sp>
        <p:nvSpPr>
          <p:cNvPr id="14" name="TextBox 13"/>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1" i="0">
                <a:solidFill>
                  <a:srgbClr val="12283F"/>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0" i="0">
                <a:solidFill>
                  <a:srgbClr val="DDE3E8"/>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Twenty factors, chosen by measurement, not convention</a:t>
            </a:r>
          </a:p>
        </p:txBody>
      </p:sp>
      <p:pic>
        <p:nvPicPr>
          <p:cNvPr id="10" name="Picture 9" descr="s07_factor_count.png"/>
          <p:cNvPicPr>
            <a:picLocks noChangeAspect="1"/>
          </p:cNvPicPr>
          <p:nvPr/>
        </p:nvPicPr>
        <p:blipFill>
          <a:blip r:embed="rId2"/>
          <a:stretch>
            <a:fillRect/>
          </a:stretch>
        </p:blipFill>
        <p:spPr>
          <a:xfrm>
            <a:off x="566928" y="1848701"/>
            <a:ext cx="6903720" cy="3508068"/>
          </a:xfrm>
          <a:prstGeom prst="rect">
            <a:avLst/>
          </a:prstGeom>
        </p:spPr>
      </p:pic>
      <p:sp>
        <p:nvSpPr>
          <p:cNvPr id="11" name="TextBox 10"/>
          <p:cNvSpPr txBox="1"/>
          <p:nvPr/>
        </p:nvSpPr>
        <p:spPr>
          <a:xfrm>
            <a:off x="7726679" y="1399032"/>
            <a:ext cx="3794760" cy="2743200"/>
          </a:xfrm>
          <a:prstGeom prst="rect">
            <a:avLst/>
          </a:prstGeom>
          <a:noFill/>
        </p:spPr>
        <p:txBody>
          <a:bodyPr wrap="square" anchor="t">
            <a:spAutoFit/>
          </a:bodyPr>
          <a:lstStyle/>
          <a:p>
            <a:pPr algn="l">
              <a:lnSpc>
                <a:spcPct val="145000"/>
              </a:lnSpc>
            </a:pPr>
            <a:r>
              <a:rPr sz="1500" b="0" i="0">
                <a:solidFill>
                  <a:srgbClr val="33475B"/>
                </a:solidFill>
                <a:latin typeface="Arial"/>
              </a:rPr>
              <a:t>· 20 is not the smallest k that reaches zero — five is</a:t>
            </a:r>
          </a:p>
          <a:p>
            <a:pPr algn="l">
              <a:lnSpc>
                <a:spcPct val="145000"/>
              </a:lnSpc>
            </a:pPr>
            <a:r>
              <a:rPr sz="1500" b="0" i="0">
                <a:solidFill>
                  <a:srgbClr val="33475B"/>
                </a:solidFill>
                <a:latin typeface="Arial"/>
              </a:rPr>
              <a:t>· It is the smallest k whose margin holds either way</a:t>
            </a:r>
          </a:p>
          <a:p>
            <a:pPr algn="l">
              <a:lnSpc>
                <a:spcPct val="145000"/>
              </a:lnSpc>
            </a:pPr>
            <a:r>
              <a:rPr sz="1500" b="0" i="0">
                <a:solidFill>
                  <a:srgbClr val="33475B"/>
                </a:solidFill>
                <a:latin typeface="Arial"/>
              </a:rPr>
              <a:t>· At k = 50 the condition number worsens 2,957 → 4,389</a:t>
            </a:r>
          </a:p>
        </p:txBody>
      </p:sp>
      <p:sp>
        <p:nvSpPr>
          <p:cNvPr id="12" name="Rectangle 11"/>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We chose the smallest factor count whose margin does not depend on which portfolio you pick.</a:t>
            </a:r>
          </a:p>
        </p:txBody>
      </p:sp>
      <p:sp>
        <p:nvSpPr>
          <p:cNvPr id="14" name="TextBox 13"/>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1" i="0">
                <a:solidFill>
                  <a:srgbClr val="12283F"/>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0" i="0">
                <a:solidFill>
                  <a:srgbClr val="DDE3E8"/>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A MIQP, because the cheaper formulations failed</a:t>
            </a:r>
          </a:p>
        </p:txBody>
      </p:sp>
      <p:sp>
        <p:nvSpPr>
          <p:cNvPr id="10" name="Rectangle 9"/>
          <p:cNvSpPr/>
          <p:nvPr/>
        </p:nvSpPr>
        <p:spPr>
          <a:xfrm>
            <a:off x="566928" y="1353312"/>
            <a:ext cx="4663440" cy="178308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463040"/>
            <a:ext cx="4480560" cy="1554480"/>
          </a:xfrm>
          <a:prstGeom prst="rect">
            <a:avLst/>
          </a:prstGeom>
          <a:noFill/>
        </p:spPr>
        <p:txBody>
          <a:bodyPr wrap="none">
            <a:spAutoFit/>
          </a:bodyPr>
          <a:lstStyle/>
          <a:p>
            <a:r>
              <a:rPr sz="1200">
                <a:solidFill>
                  <a:srgbClr val="12283F"/>
                </a:solidFill>
                <a:latin typeface="Courier New"/>
              </a:rPr>
              <a:t>minimise    w' Σ w</a:t>
            </a:r>
          </a:p>
          <a:p>
            <a:r>
              <a:rPr sz="1200">
                <a:solidFill>
                  <a:srgbClr val="12283F"/>
                </a:solidFill>
                <a:latin typeface="Courier New"/>
              </a:rPr>
              <a:t>subject to  w' μ  ≥  β</a:t>
            </a:r>
          </a:p>
          <a:p>
            <a:r>
              <a:rPr sz="1200">
                <a:solidFill>
                  <a:srgbClr val="12283F"/>
                </a:solidFill>
                <a:latin typeface="Courier New"/>
              </a:rPr>
              <a:t>            Σ w   =  1</a:t>
            </a:r>
          </a:p>
          <a:p>
            <a:r>
              <a:rPr sz="1200">
                <a:solidFill>
                  <a:srgbClr val="12283F"/>
                </a:solidFill>
                <a:latin typeface="Courier New"/>
              </a:rPr>
              <a:t>            0.01 y_i ≤ w_i ≤ 0.20 y_i</a:t>
            </a:r>
          </a:p>
          <a:p>
            <a:r>
              <a:rPr sz="1200">
                <a:solidFill>
                  <a:srgbClr val="12283F"/>
                </a:solidFill>
                <a:latin typeface="Courier New"/>
              </a:rPr>
              <a:t>            y_i ∈ {0,1},   Σ y_i ≥ 30</a:t>
            </a:r>
          </a:p>
        </p:txBody>
      </p:sp>
      <p:sp>
        <p:nvSpPr>
          <p:cNvPr id="12" name="TextBox 11"/>
          <p:cNvSpPr txBox="1"/>
          <p:nvPr/>
        </p:nvSpPr>
        <p:spPr>
          <a:xfrm>
            <a:off x="566928" y="3200400"/>
            <a:ext cx="4663440" cy="658368"/>
          </a:xfrm>
          <a:prstGeom prst="rect">
            <a:avLst/>
          </a:prstGeom>
          <a:noFill/>
        </p:spPr>
        <p:txBody>
          <a:bodyPr wrap="square" anchor="t">
            <a:spAutoFit/>
          </a:bodyPr>
          <a:lstStyle/>
          <a:p>
            <a:pPr algn="l">
              <a:lnSpc>
                <a:spcPct val="115000"/>
              </a:lnSpc>
            </a:pPr>
            <a:r>
              <a:rPr sz="1100" b="0" i="0">
                <a:solidFill>
                  <a:srgbClr val="7C8B99"/>
                </a:solidFill>
                <a:latin typeface="Arial"/>
              </a:rPr>
              <a:t>1,077 continuous + 1,077 binary variables · ~1.16 M quadratic elements · 0.3–1.1 s per solve · FICO Xpress 9.9.1 at a 0.1% MIP gap</a:t>
            </a:r>
          </a:p>
        </p:txBody>
      </p:sp>
      <p:graphicFrame>
        <p:nvGraphicFramePr>
          <p:cNvPr id="13" name="Table 12"/>
          <p:cNvGraphicFramePr>
            <a:graphicFrameLocks noGrp="1"/>
          </p:cNvGraphicFramePr>
          <p:nvPr/>
        </p:nvGraphicFramePr>
        <p:xfrm>
          <a:off x="5486400" y="1353312"/>
          <a:ext cx="6126480" cy="1243584"/>
        </p:xfrm>
        <a:graphic>
          <a:graphicData uri="http://schemas.openxmlformats.org/drawingml/2006/table">
            <a:tbl>
              <a:tblPr firstRow="1" bandRow="1">
                <a:tableStyleId>{5C22544A-7EE6-4342-B048-85BDC9FD1C3A}</a:tableStyleId>
              </a:tblPr>
              <a:tblGrid>
                <a:gridCol w="2103120"/>
                <a:gridCol w="4023360"/>
              </a:tblGrid>
              <a:tr h="310896">
                <a:tc>
                  <a:txBody>
                    <a:bodyPr/>
                    <a:lstStyle/>
                    <a:p>
                      <a:r>
                        <a:rPr sz="1100" b="1">
                          <a:solidFill>
                            <a:srgbClr val="12283F"/>
                          </a:solidFill>
                          <a:latin typeface="Arial"/>
                        </a:rPr>
                        <a:t>Rejected</a:t>
                      </a:r>
                    </a:p>
                  </a:txBody>
                  <a:tcPr>
                    <a:solidFill>
                      <a:srgbClr val="FBFAF7"/>
                    </a:solidFill>
                  </a:tcPr>
                </a:tc>
                <a:tc>
                  <a:txBody>
                    <a:bodyPr/>
                    <a:lstStyle/>
                    <a:p>
                      <a:r>
                        <a:rPr sz="1100" b="1">
                          <a:solidFill>
                            <a:srgbClr val="12283F"/>
                          </a:solidFill>
                          <a:latin typeface="Arial"/>
                        </a:rPr>
                        <a:t>The measurement that killed it</a:t>
                      </a:r>
                    </a:p>
                  </a:txBody>
                  <a:tcPr>
                    <a:solidFill>
                      <a:srgbClr val="FBFAF7"/>
                    </a:solidFill>
                  </a:tcPr>
                </a:tc>
              </a:tr>
              <a:tr h="310896">
                <a:tc>
                  <a:txBody>
                    <a:bodyPr/>
                    <a:lstStyle/>
                    <a:p>
                      <a:r>
                        <a:rPr sz="1300" b="0">
                          <a:solidFill>
                            <a:srgbClr val="33475B"/>
                          </a:solidFill>
                          <a:latin typeface="Arial"/>
                        </a:rPr>
                        <a:t>Linear risk proxy  Σ wᵢσᵢ</a:t>
                      </a:r>
                    </a:p>
                  </a:txBody>
                  <a:tcPr>
                    <a:solidFill>
                      <a:srgbClr val="FBFAF7"/>
                    </a:solidFill>
                  </a:tcPr>
                </a:tc>
                <a:tc>
                  <a:txBody>
                    <a:bodyPr/>
                    <a:lstStyle/>
                    <a:p>
                      <a:r>
                        <a:rPr sz="1300" b="0">
                          <a:solidFill>
                            <a:srgbClr val="33475B"/>
                          </a:solidFill>
                          <a:latin typeface="Arial"/>
                        </a:rPr>
                        <a:t>19.2% more true risk; misreports its own risk by 1.64×</a:t>
                      </a:r>
                    </a:p>
                  </a:txBody>
                  <a:tcPr>
                    <a:solidFill>
                      <a:srgbClr val="FBFAF7"/>
                    </a:solidFill>
                  </a:tcPr>
                </a:tc>
              </a:tr>
              <a:tr h="310896">
                <a:tc>
                  <a:txBody>
                    <a:bodyPr/>
                    <a:lstStyle/>
                    <a:p>
                      <a:r>
                        <a:rPr sz="1300" b="0">
                          <a:solidFill>
                            <a:srgbClr val="33475B"/>
                          </a:solidFill>
                          <a:latin typeface="Arial"/>
                        </a:rPr>
                        <a:t>Semi-continuous variables</a:t>
                      </a:r>
                    </a:p>
                  </a:txBody>
                  <a:tcPr>
                    <a:solidFill>
                      <a:srgbClr val="FBFAF7"/>
                    </a:solidFill>
                  </a:tcPr>
                </a:tc>
                <a:tc>
                  <a:txBody>
                    <a:bodyPr/>
                    <a:lstStyle/>
                    <a:p>
                      <a:r>
                        <a:rPr sz="1300" b="0">
                          <a:solidFill>
                            <a:srgbClr val="33475B"/>
                          </a:solidFill>
                          <a:latin typeface="Arial"/>
                        </a:rPr>
                        <a:t>returned 26 real positions while reporting 30</a:t>
                      </a:r>
                    </a:p>
                  </a:txBody>
                  <a:tcPr>
                    <a:solidFill>
                      <a:srgbClr val="FBFAF7"/>
                    </a:solidFill>
                  </a:tcPr>
                </a:tc>
              </a:tr>
              <a:tr h="310896">
                <a:tc>
                  <a:txBody>
                    <a:bodyPr/>
                    <a:lstStyle/>
                    <a:p>
                      <a:r>
                        <a:rPr sz="1300" b="0">
                          <a:solidFill>
                            <a:srgbClr val="33475B"/>
                          </a:solidFill>
                          <a:latin typeface="Arial"/>
                        </a:rPr>
                        <a:t>Weighted-sum λ scalarisation</a:t>
                      </a:r>
                    </a:p>
                  </a:txBody>
                  <a:tcPr>
                    <a:solidFill>
                      <a:srgbClr val="FBFAF7"/>
                    </a:solidFill>
                  </a:tcPr>
                </a:tc>
                <a:tc>
                  <a:txBody>
                    <a:bodyPr/>
                    <a:lstStyle/>
                    <a:p>
                      <a:r>
                        <a:rPr sz="1300" b="0">
                          <a:solidFill>
                            <a:srgbClr val="33475B"/>
                          </a:solidFill>
                          <a:latin typeface="Arial"/>
                        </a:rPr>
                        <a:t>binaries make the set non-convex — reaches only the convex hull; native multi-objective turned 0.8 s into &gt;2 min</a:t>
                      </a:r>
                    </a:p>
                  </a:txBody>
                  <a:tcPr>
                    <a:solidFill>
                      <a:srgbClr val="FBFAF7"/>
                    </a:solidFill>
                  </a:tcPr>
                </a:tc>
              </a:tr>
            </a:tbl>
          </a:graphicData>
        </a:graphic>
      </p:graphicFrame>
      <p:sp>
        <p:nvSpPr>
          <p:cNvPr id="14" name="Rectangle 13"/>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Each rejection is an experiment we ran, not an argument we made.</a:t>
            </a:r>
          </a:p>
        </p:txBody>
      </p:sp>
      <p:sp>
        <p:nvSpPr>
          <p:cNvPr id="16" name="TextBox 15"/>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1" i="0">
                <a:solidFill>
                  <a:srgbClr val="12283F"/>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0" i="0">
                <a:solidFill>
                  <a:srgbClr val="DDE3E8"/>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Every constraint carries a price we can quote</a:t>
            </a:r>
          </a:p>
        </p:txBody>
      </p:sp>
      <p:pic>
        <p:nvPicPr>
          <p:cNvPr id="10" name="Picture 9" descr="s09_constraint_costs.png"/>
          <p:cNvPicPr>
            <a:picLocks noChangeAspect="1"/>
          </p:cNvPicPr>
          <p:nvPr/>
        </p:nvPicPr>
        <p:blipFill>
          <a:blip r:embed="rId2"/>
          <a:stretch>
            <a:fillRect/>
          </a:stretch>
        </p:blipFill>
        <p:spPr>
          <a:xfrm>
            <a:off x="566928" y="1541934"/>
            <a:ext cx="6903720" cy="3408372"/>
          </a:xfrm>
          <a:prstGeom prst="rect">
            <a:avLst/>
          </a:prstGeom>
        </p:spPr>
      </p:pic>
      <p:sp>
        <p:nvSpPr>
          <p:cNvPr id="11" name="TextBox 10"/>
          <p:cNvSpPr txBox="1"/>
          <p:nvPr/>
        </p:nvSpPr>
        <p:spPr>
          <a:xfrm>
            <a:off x="7726679" y="1399032"/>
            <a:ext cx="3794760" cy="2743200"/>
          </a:xfrm>
          <a:prstGeom prst="rect">
            <a:avLst/>
          </a:prstGeom>
          <a:noFill/>
        </p:spPr>
        <p:txBody>
          <a:bodyPr wrap="square" anchor="t">
            <a:spAutoFit/>
          </a:bodyPr>
          <a:lstStyle/>
          <a:p>
            <a:pPr algn="l">
              <a:lnSpc>
                <a:spcPct val="145000"/>
              </a:lnSpc>
            </a:pPr>
            <a:r>
              <a:rPr sz="1500" b="0" i="0">
                <a:solidFill>
                  <a:srgbClr val="33475B"/>
                </a:solidFill>
                <a:latin typeface="Arial"/>
              </a:rPr>
              <a:t>· The brief's own averaging rule carries nearly all the cost</a:t>
            </a:r>
          </a:p>
          <a:p>
            <a:pPr algn="l">
              <a:lnSpc>
                <a:spcPct val="145000"/>
              </a:lnSpc>
            </a:pPr>
            <a:r>
              <a:rPr sz="1500" b="0" i="0">
                <a:solidFill>
                  <a:srgbClr val="33475B"/>
                </a:solidFill>
                <a:latin typeface="Arial"/>
              </a:rPr>
              <a:t>· The per-stock floor we added is effectively free</a:t>
            </a:r>
          </a:p>
          <a:p>
            <a:pPr algn="l">
              <a:lnSpc>
                <a:spcPct val="145000"/>
              </a:lnSpc>
            </a:pPr>
            <a:r>
              <a:rPr sz="1500" b="0" i="0">
                <a:solidFill>
                  <a:srgbClr val="33475B"/>
                </a:solidFill>
                <a:latin typeface="Arial"/>
              </a:rPr>
              <a:t>· The sector cap does not bind at Neutral — 27.10% uncapped</a:t>
            </a:r>
          </a:p>
        </p:txBody>
      </p:sp>
      <p:sp>
        <p:nvSpPr>
          <p:cNvPr id="12" name="Rectangle 11"/>
          <p:cNvSpPr/>
          <p:nvPr/>
        </p:nvSpPr>
        <p:spPr>
          <a:xfrm>
            <a:off x="566928" y="5193792"/>
            <a:ext cx="50292" cy="640080"/>
          </a:xfrm>
          <a:prstGeom prst="rect">
            <a:avLst/>
          </a:prstGeom>
          <a:solidFill>
            <a:srgbClr val="A6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230368"/>
            <a:ext cx="10515600" cy="585216"/>
          </a:xfrm>
          <a:prstGeom prst="rect">
            <a:avLst/>
          </a:prstGeom>
          <a:noFill/>
        </p:spPr>
        <p:txBody>
          <a:bodyPr wrap="square" anchor="t">
            <a:spAutoFit/>
          </a:bodyPr>
          <a:lstStyle/>
          <a:p>
            <a:pPr algn="l">
              <a:lnSpc>
                <a:spcPct val="120000"/>
              </a:lnSpc>
            </a:pPr>
            <a:r>
              <a:rPr sz="1300" b="0" i="0">
                <a:solidFill>
                  <a:srgbClr val="A63A2E"/>
                </a:solidFill>
                <a:latin typeface="Arial"/>
              </a:rPr>
              <a:t>Rheinmetall carries an ESG score of 87.3 and would take 10.2% of the book with no explicit weapons screen.</a:t>
            </a:r>
          </a:p>
        </p:txBody>
      </p:sp>
      <p:sp>
        <p:nvSpPr>
          <p:cNvPr id="14" name="Rectangle 13"/>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We can price any constraint the investment committee wants to change, in advance.</a:t>
            </a:r>
          </a:p>
        </p:txBody>
      </p:sp>
      <p:sp>
        <p:nvSpPr>
          <p:cNvPr id="16" name="TextBox 15"/>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1" i="0">
                <a:solidFill>
                  <a:srgbClr val="12283F"/>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0" i="0">
                <a:solidFill>
                  <a:srgbClr val="DDE3E8"/>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Fifteen solved portfolios — three are mandates</a:t>
            </a:r>
          </a:p>
        </p:txBody>
      </p:sp>
      <p:pic>
        <p:nvPicPr>
          <p:cNvPr id="10" name="Picture 9" descr="s10_frontier.png"/>
          <p:cNvPicPr>
            <a:picLocks noChangeAspect="1"/>
          </p:cNvPicPr>
          <p:nvPr/>
        </p:nvPicPr>
        <p:blipFill>
          <a:blip r:embed="rId2"/>
          <a:stretch>
            <a:fillRect/>
          </a:stretch>
        </p:blipFill>
        <p:spPr>
          <a:xfrm>
            <a:off x="1923568" y="1353312"/>
            <a:ext cx="8350958" cy="3703320"/>
          </a:xfrm>
          <a:prstGeom prst="rect">
            <a:avLst/>
          </a:prstGeom>
        </p:spPr>
      </p:pic>
      <p:sp>
        <p:nvSpPr>
          <p:cNvPr id="11" name="TextBox 10"/>
          <p:cNvSpPr txBox="1"/>
          <p:nvPr/>
        </p:nvSpPr>
        <p:spPr>
          <a:xfrm>
            <a:off x="566928" y="5102352"/>
            <a:ext cx="10881360" cy="822960"/>
          </a:xfrm>
          <a:prstGeom prst="rect">
            <a:avLst/>
          </a:prstGeom>
          <a:noFill/>
        </p:spPr>
        <p:txBody>
          <a:bodyPr wrap="square" anchor="t">
            <a:spAutoFit/>
          </a:bodyPr>
          <a:lstStyle/>
          <a:p>
            <a:pPr algn="l">
              <a:lnSpc>
                <a:spcPct val="135000"/>
              </a:lnSpc>
            </a:pPr>
            <a:r>
              <a:rPr sz="1400" b="0" i="0">
                <a:solidFill>
                  <a:srgbClr val="33475B"/>
                </a:solidFill>
                <a:latin typeface="Arial"/>
              </a:rPr>
              <a:t>· Steep on the left, flat on the right</a:t>
            </a:r>
          </a:p>
          <a:p>
            <a:pPr algn="l">
              <a:lnSpc>
                <a:spcPct val="135000"/>
              </a:lnSpc>
            </a:pPr>
            <a:r>
              <a:rPr sz="1400" b="0" i="0">
                <a:solidFill>
                  <a:srgbClr val="33475B"/>
                </a:solidFill>
                <a:latin typeface="Arial"/>
              </a:rPr>
              <a:t>· Past roughly 14% risk, extra risk buys very little return</a:t>
            </a:r>
          </a:p>
        </p:txBody>
      </p:sp>
      <p:sp>
        <p:nvSpPr>
          <p:cNvPr id="12" name="Rectangle 11"/>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That shape is the entire argument for not choosing the right-hand corner.</a:t>
            </a:r>
          </a:p>
        </p:txBody>
      </p:sp>
      <p:sp>
        <p:nvSpPr>
          <p:cNvPr id="14" name="TextBox 13"/>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1" i="0">
                <a:solidFill>
                  <a:srgbClr val="12283F"/>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0" i="0">
                <a:solidFill>
                  <a:srgbClr val="DDE3E8"/>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Neutral is the best risk-adjusted point on the frontier</a:t>
            </a:r>
          </a:p>
        </p:txBody>
      </p:sp>
      <p:sp>
        <p:nvSpPr>
          <p:cNvPr id="10" name="TextBox 9"/>
          <p:cNvSpPr txBox="1"/>
          <p:nvPr/>
        </p:nvSpPr>
        <p:spPr>
          <a:xfrm>
            <a:off x="566928" y="1353312"/>
            <a:ext cx="2286000" cy="566928"/>
          </a:xfrm>
          <a:prstGeom prst="rect">
            <a:avLst/>
          </a:prstGeom>
          <a:noFill/>
        </p:spPr>
        <p:txBody>
          <a:bodyPr wrap="square" anchor="t">
            <a:spAutoFit/>
          </a:bodyPr>
          <a:lstStyle/>
          <a:p>
            <a:pPr algn="l">
              <a:lnSpc>
                <a:spcPct val="100000"/>
              </a:lnSpc>
            </a:pPr>
            <a:r>
              <a:rPr sz="4000" b="1" i="0">
                <a:solidFill>
                  <a:srgbClr val="12283F"/>
                </a:solidFill>
                <a:latin typeface="Arial"/>
              </a:rPr>
              <a:t>14.30%</a:t>
            </a:r>
          </a:p>
        </p:txBody>
      </p:sp>
      <p:sp>
        <p:nvSpPr>
          <p:cNvPr id="11" name="TextBox 10"/>
          <p:cNvSpPr txBox="1"/>
          <p:nvPr/>
        </p:nvSpPr>
        <p:spPr>
          <a:xfrm>
            <a:off x="566928" y="1920240"/>
            <a:ext cx="2286000" cy="274320"/>
          </a:xfrm>
          <a:prstGeom prst="rect">
            <a:avLst/>
          </a:prstGeom>
          <a:noFill/>
        </p:spPr>
        <p:txBody>
          <a:bodyPr wrap="square" anchor="t">
            <a:spAutoFit/>
          </a:bodyPr>
          <a:lstStyle/>
          <a:p>
            <a:pPr algn="l">
              <a:lnSpc>
                <a:spcPct val="100000"/>
              </a:lnSpc>
            </a:pPr>
            <a:r>
              <a:rPr sz="1200" b="0" i="0">
                <a:solidFill>
                  <a:srgbClr val="7C8B99"/>
                </a:solidFill>
                <a:latin typeface="Arial"/>
              </a:rPr>
              <a:t>expected return</a:t>
            </a:r>
          </a:p>
        </p:txBody>
      </p:sp>
      <p:sp>
        <p:nvSpPr>
          <p:cNvPr id="12" name="TextBox 11"/>
          <p:cNvSpPr txBox="1"/>
          <p:nvPr/>
        </p:nvSpPr>
        <p:spPr>
          <a:xfrm>
            <a:off x="3035808" y="1353312"/>
            <a:ext cx="2286000" cy="566928"/>
          </a:xfrm>
          <a:prstGeom prst="rect">
            <a:avLst/>
          </a:prstGeom>
          <a:noFill/>
        </p:spPr>
        <p:txBody>
          <a:bodyPr wrap="square" anchor="t">
            <a:spAutoFit/>
          </a:bodyPr>
          <a:lstStyle/>
          <a:p>
            <a:pPr algn="l">
              <a:lnSpc>
                <a:spcPct val="100000"/>
              </a:lnSpc>
            </a:pPr>
            <a:r>
              <a:rPr sz="4000" b="1" i="0">
                <a:solidFill>
                  <a:srgbClr val="12283F"/>
                </a:solidFill>
                <a:latin typeface="Arial"/>
              </a:rPr>
              <a:t>10.62%</a:t>
            </a:r>
          </a:p>
        </p:txBody>
      </p:sp>
      <p:sp>
        <p:nvSpPr>
          <p:cNvPr id="13" name="TextBox 12"/>
          <p:cNvSpPr txBox="1"/>
          <p:nvPr/>
        </p:nvSpPr>
        <p:spPr>
          <a:xfrm>
            <a:off x="3035808" y="1920240"/>
            <a:ext cx="2286000" cy="274320"/>
          </a:xfrm>
          <a:prstGeom prst="rect">
            <a:avLst/>
          </a:prstGeom>
          <a:noFill/>
        </p:spPr>
        <p:txBody>
          <a:bodyPr wrap="square" anchor="t">
            <a:spAutoFit/>
          </a:bodyPr>
          <a:lstStyle/>
          <a:p>
            <a:pPr algn="l">
              <a:lnSpc>
                <a:spcPct val="100000"/>
              </a:lnSpc>
            </a:pPr>
            <a:r>
              <a:rPr sz="1200" b="0" i="0">
                <a:solidFill>
                  <a:srgbClr val="7C8B99"/>
                </a:solidFill>
                <a:latin typeface="Arial"/>
              </a:rPr>
              <a:t>risk</a:t>
            </a:r>
          </a:p>
        </p:txBody>
      </p:sp>
      <p:sp>
        <p:nvSpPr>
          <p:cNvPr id="14" name="TextBox 13"/>
          <p:cNvSpPr txBox="1"/>
          <p:nvPr/>
        </p:nvSpPr>
        <p:spPr>
          <a:xfrm>
            <a:off x="5504688" y="1353312"/>
            <a:ext cx="2286000" cy="566928"/>
          </a:xfrm>
          <a:prstGeom prst="rect">
            <a:avLst/>
          </a:prstGeom>
          <a:noFill/>
        </p:spPr>
        <p:txBody>
          <a:bodyPr wrap="square" anchor="t">
            <a:spAutoFit/>
          </a:bodyPr>
          <a:lstStyle/>
          <a:p>
            <a:pPr algn="l">
              <a:lnSpc>
                <a:spcPct val="100000"/>
              </a:lnSpc>
            </a:pPr>
            <a:r>
              <a:rPr sz="4000" b="1" i="0">
                <a:solidFill>
                  <a:srgbClr val="12283F"/>
                </a:solidFill>
                <a:latin typeface="Arial"/>
              </a:rPr>
              <a:t>1.346</a:t>
            </a:r>
          </a:p>
        </p:txBody>
      </p:sp>
      <p:sp>
        <p:nvSpPr>
          <p:cNvPr id="15" name="TextBox 14"/>
          <p:cNvSpPr txBox="1"/>
          <p:nvPr/>
        </p:nvSpPr>
        <p:spPr>
          <a:xfrm>
            <a:off x="5504688" y="1920240"/>
            <a:ext cx="2286000" cy="274320"/>
          </a:xfrm>
          <a:prstGeom prst="rect">
            <a:avLst/>
          </a:prstGeom>
          <a:noFill/>
        </p:spPr>
        <p:txBody>
          <a:bodyPr wrap="square" anchor="t">
            <a:spAutoFit/>
          </a:bodyPr>
          <a:lstStyle/>
          <a:p>
            <a:pPr algn="l">
              <a:lnSpc>
                <a:spcPct val="100000"/>
              </a:lnSpc>
            </a:pPr>
            <a:r>
              <a:rPr sz="1200" b="0" i="0">
                <a:solidFill>
                  <a:srgbClr val="7C8B99"/>
                </a:solidFill>
                <a:latin typeface="Arial"/>
              </a:rPr>
              <a:t>return / risk</a:t>
            </a:r>
          </a:p>
        </p:txBody>
      </p:sp>
      <p:graphicFrame>
        <p:nvGraphicFramePr>
          <p:cNvPr id="16" name="Table 15"/>
          <p:cNvGraphicFramePr>
            <a:graphicFrameLocks noGrp="1"/>
          </p:cNvGraphicFramePr>
          <p:nvPr/>
        </p:nvGraphicFramePr>
        <p:xfrm>
          <a:off x="640080" y="2359152"/>
          <a:ext cx="10881357" cy="1243584"/>
        </p:xfrm>
        <a:graphic>
          <a:graphicData uri="http://schemas.openxmlformats.org/drawingml/2006/table">
            <a:tbl>
              <a:tblPr firstRow="1" bandRow="1">
                <a:tableStyleId>{5C22544A-7EE6-4342-B048-85BDC9FD1C3A}</a:tableStyleId>
              </a:tblPr>
              <a:tblGrid>
                <a:gridCol w="3429993"/>
                <a:gridCol w="1419307"/>
                <a:gridCol w="1301032"/>
                <a:gridCol w="1655859"/>
                <a:gridCol w="1301032"/>
                <a:gridCol w="1774134"/>
              </a:tblGrid>
              <a:tr h="310896">
                <a:tc>
                  <a:txBody>
                    <a:bodyPr/>
                    <a:lstStyle/>
                    <a:p>
                      <a:r>
                        <a:rPr sz="1100" b="1">
                          <a:solidFill>
                            <a:srgbClr val="12283F"/>
                          </a:solidFill>
                          <a:latin typeface="Arial"/>
                        </a:rPr>
                        <a:t>Profile</a:t>
                      </a:r>
                    </a:p>
                  </a:txBody>
                  <a:tcPr>
                    <a:solidFill>
                      <a:srgbClr val="FBFAF7"/>
                    </a:solidFill>
                  </a:tcPr>
                </a:tc>
                <a:tc>
                  <a:txBody>
                    <a:bodyPr/>
                    <a:lstStyle/>
                    <a:p>
                      <a:r>
                        <a:rPr sz="1100" b="1">
                          <a:solidFill>
                            <a:srgbClr val="12283F"/>
                          </a:solidFill>
                          <a:latin typeface="Arial"/>
                        </a:rPr>
                        <a:t>Return</a:t>
                      </a:r>
                    </a:p>
                  </a:txBody>
                  <a:tcPr>
                    <a:solidFill>
                      <a:srgbClr val="FBFAF7"/>
                    </a:solidFill>
                  </a:tcPr>
                </a:tc>
                <a:tc>
                  <a:txBody>
                    <a:bodyPr/>
                    <a:lstStyle/>
                    <a:p>
                      <a:r>
                        <a:rPr sz="1100" b="1">
                          <a:solidFill>
                            <a:srgbClr val="12283F"/>
                          </a:solidFill>
                          <a:latin typeface="Arial"/>
                        </a:rPr>
                        <a:t>Risk</a:t>
                      </a:r>
                    </a:p>
                  </a:txBody>
                  <a:tcPr>
                    <a:solidFill>
                      <a:srgbClr val="FBFAF7"/>
                    </a:solidFill>
                  </a:tcPr>
                </a:tc>
                <a:tc>
                  <a:txBody>
                    <a:bodyPr/>
                    <a:lstStyle/>
                    <a:p>
                      <a:r>
                        <a:rPr sz="1100" b="1">
                          <a:solidFill>
                            <a:srgbClr val="12283F"/>
                          </a:solidFill>
                          <a:latin typeface="Arial"/>
                        </a:rPr>
                        <a:t>Return/Risk</a:t>
                      </a:r>
                    </a:p>
                  </a:txBody>
                  <a:tcPr>
                    <a:solidFill>
                      <a:srgbClr val="FBFAF7"/>
                    </a:solidFill>
                  </a:tcPr>
                </a:tc>
                <a:tc>
                  <a:txBody>
                    <a:bodyPr/>
                    <a:lstStyle/>
                    <a:p>
                      <a:r>
                        <a:rPr sz="1100" b="1">
                          <a:solidFill>
                            <a:srgbClr val="12283F"/>
                          </a:solidFill>
                          <a:latin typeface="Arial"/>
                        </a:rPr>
                        <a:t>Holdings</a:t>
                      </a:r>
                    </a:p>
                  </a:txBody>
                  <a:tcPr>
                    <a:solidFill>
                      <a:srgbClr val="FBFAF7"/>
                    </a:solidFill>
                  </a:tcPr>
                </a:tc>
                <a:tc>
                  <a:txBody>
                    <a:bodyPr/>
                    <a:lstStyle/>
                    <a:p>
                      <a:r>
                        <a:rPr sz="1100" b="1">
                          <a:solidFill>
                            <a:srgbClr val="12283F"/>
                          </a:solidFill>
                          <a:latin typeface="Arial"/>
                        </a:rPr>
                        <a:t>Weighted ESG</a:t>
                      </a:r>
                    </a:p>
                  </a:txBody>
                  <a:tcPr>
                    <a:solidFill>
                      <a:srgbClr val="FBFAF7"/>
                    </a:solidFill>
                  </a:tcPr>
                </a:tc>
              </a:tr>
              <a:tr h="310896">
                <a:tc>
                  <a:txBody>
                    <a:bodyPr/>
                    <a:lstStyle/>
                    <a:p>
                      <a:r>
                        <a:rPr sz="1300" b="0">
                          <a:solidFill>
                            <a:srgbClr val="33475B"/>
                          </a:solidFill>
                          <a:latin typeface="Arial"/>
                        </a:rPr>
                        <a:t>Risk Averse (pt 0)</a:t>
                      </a:r>
                    </a:p>
                  </a:txBody>
                  <a:tcPr>
                    <a:solidFill>
                      <a:srgbClr val="FBFAF7"/>
                    </a:solidFill>
                  </a:tcPr>
                </a:tc>
                <a:tc>
                  <a:txBody>
                    <a:bodyPr/>
                    <a:lstStyle/>
                    <a:p>
                      <a:r>
                        <a:rPr sz="1300" b="0">
                          <a:solidFill>
                            <a:srgbClr val="33475B"/>
                          </a:solidFill>
                          <a:latin typeface="Arial"/>
                        </a:rPr>
                        <a:t>9.87%</a:t>
                      </a:r>
                    </a:p>
                  </a:txBody>
                  <a:tcPr>
                    <a:solidFill>
                      <a:srgbClr val="FBFAF7"/>
                    </a:solidFill>
                  </a:tcPr>
                </a:tc>
                <a:tc>
                  <a:txBody>
                    <a:bodyPr/>
                    <a:lstStyle/>
                    <a:p>
                      <a:r>
                        <a:rPr sz="1300" b="0">
                          <a:solidFill>
                            <a:srgbClr val="33475B"/>
                          </a:solidFill>
                          <a:latin typeface="Arial"/>
                        </a:rPr>
                        <a:t>9.26%</a:t>
                      </a:r>
                    </a:p>
                  </a:txBody>
                  <a:tcPr>
                    <a:solidFill>
                      <a:srgbClr val="FBFAF7"/>
                    </a:solidFill>
                  </a:tcPr>
                </a:tc>
                <a:tc>
                  <a:txBody>
                    <a:bodyPr/>
                    <a:lstStyle/>
                    <a:p>
                      <a:r>
                        <a:rPr sz="1300" b="0">
                          <a:solidFill>
                            <a:srgbClr val="33475B"/>
                          </a:solidFill>
                          <a:latin typeface="Arial"/>
                        </a:rPr>
                        <a:t>1.067</a:t>
                      </a:r>
                    </a:p>
                  </a:txBody>
                  <a:tcPr>
                    <a:solidFill>
                      <a:srgbClr val="FBFAF7"/>
                    </a:solidFill>
                  </a:tcPr>
                </a:tc>
                <a:tc>
                  <a:txBody>
                    <a:bodyPr/>
                    <a:lstStyle/>
                    <a:p>
                      <a:r>
                        <a:rPr sz="1300" b="0">
                          <a:solidFill>
                            <a:srgbClr val="33475B"/>
                          </a:solidFill>
                          <a:latin typeface="Arial"/>
                        </a:rPr>
                        <a:t>42</a:t>
                      </a:r>
                    </a:p>
                  </a:txBody>
                  <a:tcPr>
                    <a:solidFill>
                      <a:srgbClr val="FBFAF7"/>
                    </a:solidFill>
                  </a:tcPr>
                </a:tc>
                <a:tc>
                  <a:txBody>
                    <a:bodyPr/>
                    <a:lstStyle/>
                    <a:p>
                      <a:r>
                        <a:rPr sz="1300" b="0">
                          <a:solidFill>
                            <a:srgbClr val="33475B"/>
                          </a:solidFill>
                          <a:latin typeface="Arial"/>
                        </a:rPr>
                        <a:t>70.00</a:t>
                      </a:r>
                    </a:p>
                  </a:txBody>
                  <a:tcPr>
                    <a:solidFill>
                      <a:srgbClr val="FBFAF7"/>
                    </a:solidFill>
                  </a:tcPr>
                </a:tc>
              </a:tr>
              <a:tr h="310896">
                <a:tc>
                  <a:txBody>
                    <a:bodyPr/>
                    <a:lstStyle/>
                    <a:p>
                      <a:r>
                        <a:rPr sz="1300" b="1">
                          <a:solidFill>
                            <a:srgbClr val="12283F"/>
                          </a:solidFill>
                          <a:latin typeface="Arial"/>
                        </a:rPr>
                        <a:t>Neutral — recommended (pt 8)</a:t>
                      </a:r>
                    </a:p>
                  </a:txBody>
                  <a:tcPr>
                    <a:solidFill>
                      <a:srgbClr val="EDF0F3"/>
                    </a:solidFill>
                  </a:tcPr>
                </a:tc>
                <a:tc>
                  <a:txBody>
                    <a:bodyPr/>
                    <a:lstStyle/>
                    <a:p>
                      <a:r>
                        <a:rPr sz="1300" b="1">
                          <a:solidFill>
                            <a:srgbClr val="12283F"/>
                          </a:solidFill>
                          <a:latin typeface="Arial"/>
                        </a:rPr>
                        <a:t>14.30%</a:t>
                      </a:r>
                    </a:p>
                  </a:txBody>
                  <a:tcPr>
                    <a:solidFill>
                      <a:srgbClr val="EDF0F3"/>
                    </a:solidFill>
                  </a:tcPr>
                </a:tc>
                <a:tc>
                  <a:txBody>
                    <a:bodyPr/>
                    <a:lstStyle/>
                    <a:p>
                      <a:r>
                        <a:rPr sz="1300" b="1">
                          <a:solidFill>
                            <a:srgbClr val="12283F"/>
                          </a:solidFill>
                          <a:latin typeface="Arial"/>
                        </a:rPr>
                        <a:t>10.62%</a:t>
                      </a:r>
                    </a:p>
                  </a:txBody>
                  <a:tcPr>
                    <a:solidFill>
                      <a:srgbClr val="EDF0F3"/>
                    </a:solidFill>
                  </a:tcPr>
                </a:tc>
                <a:tc>
                  <a:txBody>
                    <a:bodyPr/>
                    <a:lstStyle/>
                    <a:p>
                      <a:r>
                        <a:rPr sz="1300" b="1">
                          <a:solidFill>
                            <a:srgbClr val="12283F"/>
                          </a:solidFill>
                          <a:latin typeface="Arial"/>
                        </a:rPr>
                        <a:t>1.346</a:t>
                      </a:r>
                    </a:p>
                  </a:txBody>
                  <a:tcPr>
                    <a:solidFill>
                      <a:srgbClr val="EDF0F3"/>
                    </a:solidFill>
                  </a:tcPr>
                </a:tc>
                <a:tc>
                  <a:txBody>
                    <a:bodyPr/>
                    <a:lstStyle/>
                    <a:p>
                      <a:r>
                        <a:rPr sz="1300" b="1">
                          <a:solidFill>
                            <a:srgbClr val="12283F"/>
                          </a:solidFill>
                          <a:latin typeface="Arial"/>
                        </a:rPr>
                        <a:t>30</a:t>
                      </a:r>
                    </a:p>
                  </a:txBody>
                  <a:tcPr>
                    <a:solidFill>
                      <a:srgbClr val="EDF0F3"/>
                    </a:solidFill>
                  </a:tcPr>
                </a:tc>
                <a:tc>
                  <a:txBody>
                    <a:bodyPr/>
                    <a:lstStyle/>
                    <a:p>
                      <a:r>
                        <a:rPr sz="1300" b="1">
                          <a:solidFill>
                            <a:srgbClr val="12283F"/>
                          </a:solidFill>
                          <a:latin typeface="Arial"/>
                        </a:rPr>
                        <a:t>70.00</a:t>
                      </a:r>
                    </a:p>
                  </a:txBody>
                  <a:tcPr>
                    <a:solidFill>
                      <a:srgbClr val="EDF0F3"/>
                    </a:solidFill>
                  </a:tcPr>
                </a:tc>
              </a:tr>
              <a:tr h="310896">
                <a:tc>
                  <a:txBody>
                    <a:bodyPr/>
                    <a:lstStyle/>
                    <a:p>
                      <a:r>
                        <a:rPr sz="1300" b="0">
                          <a:solidFill>
                            <a:srgbClr val="33475B"/>
                          </a:solidFill>
                          <a:latin typeface="Arial"/>
                        </a:rPr>
                        <a:t>Risk Prone (pt 11)</a:t>
                      </a:r>
                    </a:p>
                  </a:txBody>
                  <a:tcPr>
                    <a:solidFill>
                      <a:srgbClr val="FBFAF7"/>
                    </a:solidFill>
                  </a:tcPr>
                </a:tc>
                <a:tc>
                  <a:txBody>
                    <a:bodyPr/>
                    <a:lstStyle/>
                    <a:p>
                      <a:r>
                        <a:rPr sz="1300" b="0">
                          <a:solidFill>
                            <a:srgbClr val="33475B"/>
                          </a:solidFill>
                          <a:latin typeface="Arial"/>
                        </a:rPr>
                        <a:t>15.97%</a:t>
                      </a:r>
                    </a:p>
                  </a:txBody>
                  <a:tcPr>
                    <a:solidFill>
                      <a:srgbClr val="FBFAF7"/>
                    </a:solidFill>
                  </a:tcPr>
                </a:tc>
                <a:tc>
                  <a:txBody>
                    <a:bodyPr/>
                    <a:lstStyle/>
                    <a:p>
                      <a:r>
                        <a:rPr sz="1300" b="0">
                          <a:solidFill>
                            <a:srgbClr val="33475B"/>
                          </a:solidFill>
                          <a:latin typeface="Arial"/>
                        </a:rPr>
                        <a:t>12.77%</a:t>
                      </a:r>
                    </a:p>
                  </a:txBody>
                  <a:tcPr>
                    <a:solidFill>
                      <a:srgbClr val="FBFAF7"/>
                    </a:solidFill>
                  </a:tcPr>
                </a:tc>
                <a:tc>
                  <a:txBody>
                    <a:bodyPr/>
                    <a:lstStyle/>
                    <a:p>
                      <a:r>
                        <a:rPr sz="1300" b="0">
                          <a:solidFill>
                            <a:srgbClr val="33475B"/>
                          </a:solidFill>
                          <a:latin typeface="Arial"/>
                        </a:rPr>
                        <a:t>1.250</a:t>
                      </a:r>
                    </a:p>
                  </a:txBody>
                  <a:tcPr>
                    <a:solidFill>
                      <a:srgbClr val="FBFAF7"/>
                    </a:solidFill>
                  </a:tcPr>
                </a:tc>
                <a:tc>
                  <a:txBody>
                    <a:bodyPr/>
                    <a:lstStyle/>
                    <a:p>
                      <a:r>
                        <a:rPr sz="1300" b="0">
                          <a:solidFill>
                            <a:srgbClr val="33475B"/>
                          </a:solidFill>
                          <a:latin typeface="Arial"/>
                        </a:rPr>
                        <a:t>30</a:t>
                      </a:r>
                    </a:p>
                  </a:txBody>
                  <a:tcPr>
                    <a:solidFill>
                      <a:srgbClr val="FBFAF7"/>
                    </a:solidFill>
                  </a:tcPr>
                </a:tc>
                <a:tc>
                  <a:txBody>
                    <a:bodyPr/>
                    <a:lstStyle/>
                    <a:p>
                      <a:r>
                        <a:rPr sz="1300" b="0">
                          <a:solidFill>
                            <a:srgbClr val="33475B"/>
                          </a:solidFill>
                          <a:latin typeface="Arial"/>
                        </a:rPr>
                        <a:t>70.00</a:t>
                      </a:r>
                    </a:p>
                  </a:txBody>
                  <a:tcPr>
                    <a:solidFill>
                      <a:srgbClr val="FBFAF7"/>
                    </a:solidFill>
                  </a:tcPr>
                </a:tc>
              </a:tr>
            </a:tbl>
          </a:graphicData>
        </a:graphic>
      </p:graphicFrame>
      <p:sp>
        <p:nvSpPr>
          <p:cNvPr id="17" name="TextBox 16"/>
          <p:cNvSpPr txBox="1"/>
          <p:nvPr/>
        </p:nvSpPr>
        <p:spPr>
          <a:xfrm>
            <a:off x="566928" y="3712464"/>
            <a:ext cx="10881360" cy="822960"/>
          </a:xfrm>
          <a:prstGeom prst="rect">
            <a:avLst/>
          </a:prstGeom>
          <a:noFill/>
        </p:spPr>
        <p:txBody>
          <a:bodyPr wrap="square" anchor="t">
            <a:spAutoFit/>
          </a:bodyPr>
          <a:lstStyle/>
          <a:p>
            <a:pPr algn="l">
              <a:lnSpc>
                <a:spcPct val="135000"/>
              </a:lnSpc>
            </a:pPr>
            <a:r>
              <a:rPr sz="1400" b="0" i="0">
                <a:solidFill>
                  <a:srgbClr val="33475B"/>
                </a:solidFill>
                <a:latin typeface="Arial"/>
              </a:rPr>
              <a:t>· Risk Averse = minimum variance</a:t>
            </a:r>
          </a:p>
          <a:p>
            <a:pPr algn="l">
              <a:lnSpc>
                <a:spcPct val="135000"/>
              </a:lnSpc>
            </a:pPr>
            <a:r>
              <a:rPr sz="1400" b="0" i="0">
                <a:solidFill>
                  <a:srgbClr val="33475B"/>
                </a:solidFill>
                <a:latin typeface="Arial"/>
              </a:rPr>
              <a:t>· Neutral = highest return/risk on the frontier</a:t>
            </a:r>
          </a:p>
          <a:p>
            <a:pPr algn="l">
              <a:lnSpc>
                <a:spcPct val="135000"/>
              </a:lnSpc>
            </a:pPr>
            <a:r>
              <a:rPr sz="1400" b="0" i="0">
                <a:solidFill>
                  <a:srgbClr val="33475B"/>
                </a:solidFill>
                <a:latin typeface="Arial"/>
              </a:rPr>
              <a:t>· Risk Prone = highest return among non-degenerate points</a:t>
            </a:r>
          </a:p>
        </p:txBody>
      </p:sp>
      <p:sp>
        <p:nvSpPr>
          <p:cNvPr id="18" name="Rectangle 17"/>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Neutral needs no risk-aversion parameter — it is the best point on a frontier we did not tune.</a:t>
            </a:r>
          </a:p>
        </p:txBody>
      </p:sp>
      <p:sp>
        <p:nvSpPr>
          <p:cNvPr id="20" name="TextBox 19"/>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1" i="0">
                <a:solidFill>
                  <a:srgbClr val="12283F"/>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0" i="0">
                <a:solidFill>
                  <a:srgbClr val="DDE3E8"/>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The maximum-return corner is a dominated portfolio</a:t>
            </a:r>
          </a:p>
        </p:txBody>
      </p:sp>
      <p:graphicFrame>
        <p:nvGraphicFramePr>
          <p:cNvPr id="10" name="Table 9"/>
          <p:cNvGraphicFramePr>
            <a:graphicFrameLocks noGrp="1"/>
          </p:cNvGraphicFramePr>
          <p:nvPr/>
        </p:nvGraphicFramePr>
        <p:xfrm>
          <a:off x="640080" y="1353312"/>
          <a:ext cx="10881356" cy="1554480"/>
        </p:xfrm>
        <a:graphic>
          <a:graphicData uri="http://schemas.openxmlformats.org/drawingml/2006/table">
            <a:tbl>
              <a:tblPr firstRow="1" bandRow="1">
                <a:tableStyleId>{5C22544A-7EE6-4342-B048-85BDC9FD1C3A}</a:tableStyleId>
              </a:tblPr>
              <a:tblGrid>
                <a:gridCol w="897431"/>
                <a:gridCol w="1233968"/>
                <a:gridCol w="1121789"/>
                <a:gridCol w="1458326"/>
                <a:gridCol w="1570505"/>
                <a:gridCol w="1682684"/>
                <a:gridCol w="2916653"/>
              </a:tblGrid>
              <a:tr h="310896">
                <a:tc>
                  <a:txBody>
                    <a:bodyPr/>
                    <a:lstStyle/>
                    <a:p>
                      <a:r>
                        <a:rPr sz="1100" b="1">
                          <a:solidFill>
                            <a:srgbClr val="12283F"/>
                          </a:solidFill>
                          <a:latin typeface="Arial"/>
                        </a:rPr>
                        <a:t>Point</a:t>
                      </a:r>
                    </a:p>
                  </a:txBody>
                  <a:tcPr>
                    <a:solidFill>
                      <a:srgbClr val="FBFAF7"/>
                    </a:solidFill>
                  </a:tcPr>
                </a:tc>
                <a:tc>
                  <a:txBody>
                    <a:bodyPr/>
                    <a:lstStyle/>
                    <a:p>
                      <a:r>
                        <a:rPr sz="1100" b="1">
                          <a:solidFill>
                            <a:srgbClr val="12283F"/>
                          </a:solidFill>
                          <a:latin typeface="Arial"/>
                        </a:rPr>
                        <a:t>Return</a:t>
                      </a:r>
                    </a:p>
                  </a:txBody>
                  <a:tcPr>
                    <a:solidFill>
                      <a:srgbClr val="FBFAF7"/>
                    </a:solidFill>
                  </a:tcPr>
                </a:tc>
                <a:tc>
                  <a:txBody>
                    <a:bodyPr/>
                    <a:lstStyle/>
                    <a:p>
                      <a:r>
                        <a:rPr sz="1100" b="1">
                          <a:solidFill>
                            <a:srgbClr val="12283F"/>
                          </a:solidFill>
                          <a:latin typeface="Arial"/>
                        </a:rPr>
                        <a:t>Risk</a:t>
                      </a:r>
                    </a:p>
                  </a:txBody>
                  <a:tcPr>
                    <a:solidFill>
                      <a:srgbClr val="FBFAF7"/>
                    </a:solidFill>
                  </a:tcPr>
                </a:tc>
                <a:tc>
                  <a:txBody>
                    <a:bodyPr/>
                    <a:lstStyle/>
                    <a:p>
                      <a:r>
                        <a:rPr sz="1100" b="1">
                          <a:solidFill>
                            <a:srgbClr val="12283F"/>
                          </a:solidFill>
                          <a:latin typeface="Arial"/>
                        </a:rPr>
                        <a:t>Return/Risk</a:t>
                      </a:r>
                    </a:p>
                  </a:txBody>
                  <a:tcPr>
                    <a:solidFill>
                      <a:srgbClr val="FBFAF7"/>
                    </a:solidFill>
                  </a:tcPr>
                </a:tc>
                <a:tc>
                  <a:txBody>
                    <a:bodyPr/>
                    <a:lstStyle/>
                    <a:p>
                      <a:r>
                        <a:rPr sz="1100" b="1">
                          <a:solidFill>
                            <a:srgbClr val="12283F"/>
                          </a:solidFill>
                          <a:latin typeface="Arial"/>
                        </a:rPr>
                        <a:t>Top-3 weight</a:t>
                      </a:r>
                    </a:p>
                  </a:txBody>
                  <a:tcPr>
                    <a:solidFill>
                      <a:srgbClr val="FBFAF7"/>
                    </a:solidFill>
                  </a:tcPr>
                </a:tc>
                <a:tc>
                  <a:txBody>
                    <a:bodyPr/>
                    <a:lstStyle/>
                    <a:p>
                      <a:r>
                        <a:rPr sz="1100" b="1">
                          <a:solidFill>
                            <a:srgbClr val="12283F"/>
                          </a:solidFill>
                          <a:latin typeface="Arial"/>
                        </a:rPr>
                        <a:t>At the 1% floor</a:t>
                      </a:r>
                    </a:p>
                  </a:txBody>
                  <a:tcPr>
                    <a:solidFill>
                      <a:srgbClr val="FBFAF7"/>
                    </a:solidFill>
                  </a:tcPr>
                </a:tc>
                <a:tc>
                  <a:txBody>
                    <a:bodyPr/>
                    <a:lstStyle/>
                    <a:p>
                      <a:r>
                        <a:rPr sz="1100" b="1">
                          <a:solidFill>
                            <a:srgbClr val="12283F"/>
                          </a:solidFill>
                          <a:latin typeface="Arial"/>
                        </a:rPr>
                        <a:t>Status</a:t>
                      </a:r>
                    </a:p>
                  </a:txBody>
                  <a:tcPr>
                    <a:solidFill>
                      <a:srgbClr val="FBFAF7"/>
                    </a:solidFill>
                  </a:tcPr>
                </a:tc>
              </a:tr>
              <a:tr h="310896">
                <a:tc>
                  <a:txBody>
                    <a:bodyPr/>
                    <a:lstStyle/>
                    <a:p>
                      <a:r>
                        <a:rPr sz="1300" b="1">
                          <a:solidFill>
                            <a:srgbClr val="12283F"/>
                          </a:solidFill>
                          <a:latin typeface="Arial"/>
                        </a:rPr>
                        <a:t>11</a:t>
                      </a:r>
                    </a:p>
                  </a:txBody>
                  <a:tcPr>
                    <a:solidFill>
                      <a:srgbClr val="EDF0F3"/>
                    </a:solidFill>
                  </a:tcPr>
                </a:tc>
                <a:tc>
                  <a:txBody>
                    <a:bodyPr/>
                    <a:lstStyle/>
                    <a:p>
                      <a:r>
                        <a:rPr sz="1300" b="1">
                          <a:solidFill>
                            <a:srgbClr val="12283F"/>
                          </a:solidFill>
                          <a:latin typeface="Arial"/>
                        </a:rPr>
                        <a:t>15.97%</a:t>
                      </a:r>
                    </a:p>
                  </a:txBody>
                  <a:tcPr>
                    <a:solidFill>
                      <a:srgbClr val="EDF0F3"/>
                    </a:solidFill>
                  </a:tcPr>
                </a:tc>
                <a:tc>
                  <a:txBody>
                    <a:bodyPr/>
                    <a:lstStyle/>
                    <a:p>
                      <a:r>
                        <a:rPr sz="1300" b="1">
                          <a:solidFill>
                            <a:srgbClr val="12283F"/>
                          </a:solidFill>
                          <a:latin typeface="Arial"/>
                        </a:rPr>
                        <a:t>12.77%</a:t>
                      </a:r>
                    </a:p>
                  </a:txBody>
                  <a:tcPr>
                    <a:solidFill>
                      <a:srgbClr val="EDF0F3"/>
                    </a:solidFill>
                  </a:tcPr>
                </a:tc>
                <a:tc>
                  <a:txBody>
                    <a:bodyPr/>
                    <a:lstStyle/>
                    <a:p>
                      <a:r>
                        <a:rPr sz="1300" b="1">
                          <a:solidFill>
                            <a:srgbClr val="12283F"/>
                          </a:solidFill>
                          <a:latin typeface="Arial"/>
                        </a:rPr>
                        <a:t>1.250</a:t>
                      </a:r>
                    </a:p>
                  </a:txBody>
                  <a:tcPr>
                    <a:solidFill>
                      <a:srgbClr val="EDF0F3"/>
                    </a:solidFill>
                  </a:tcPr>
                </a:tc>
                <a:tc>
                  <a:txBody>
                    <a:bodyPr/>
                    <a:lstStyle/>
                    <a:p>
                      <a:r>
                        <a:rPr sz="1300" b="1">
                          <a:solidFill>
                            <a:srgbClr val="12283F"/>
                          </a:solidFill>
                          <a:latin typeface="Arial"/>
                        </a:rPr>
                        <a:t>33.8%</a:t>
                      </a:r>
                    </a:p>
                  </a:txBody>
                  <a:tcPr>
                    <a:solidFill>
                      <a:srgbClr val="EDF0F3"/>
                    </a:solidFill>
                  </a:tcPr>
                </a:tc>
                <a:tc>
                  <a:txBody>
                    <a:bodyPr/>
                    <a:lstStyle/>
                    <a:p>
                      <a:r>
                        <a:rPr sz="1300" b="1">
                          <a:solidFill>
                            <a:srgbClr val="12283F"/>
                          </a:solidFill>
                          <a:latin typeface="Arial"/>
                        </a:rPr>
                        <a:t>10</a:t>
                      </a:r>
                    </a:p>
                  </a:txBody>
                  <a:tcPr>
                    <a:solidFill>
                      <a:srgbClr val="EDF0F3"/>
                    </a:solidFill>
                  </a:tcPr>
                </a:tc>
                <a:tc>
                  <a:txBody>
                    <a:bodyPr/>
                    <a:lstStyle/>
                    <a:p>
                      <a:r>
                        <a:rPr sz="1300" b="1">
                          <a:solidFill>
                            <a:srgbClr val="12283F"/>
                          </a:solidFill>
                          <a:latin typeface="Arial"/>
                        </a:rPr>
                        <a:t>Risk Prone</a:t>
                      </a:r>
                    </a:p>
                  </a:txBody>
                  <a:tcPr>
                    <a:solidFill>
                      <a:srgbClr val="EDF0F3"/>
                    </a:solidFill>
                  </a:tcPr>
                </a:tc>
              </a:tr>
              <a:tr h="310896">
                <a:tc>
                  <a:txBody>
                    <a:bodyPr/>
                    <a:lstStyle/>
                    <a:p>
                      <a:r>
                        <a:rPr sz="1300" b="0">
                          <a:solidFill>
                            <a:srgbClr val="33475B"/>
                          </a:solidFill>
                          <a:latin typeface="Arial"/>
                        </a:rPr>
                        <a:t>12</a:t>
                      </a:r>
                    </a:p>
                  </a:txBody>
                  <a:tcPr>
                    <a:solidFill>
                      <a:srgbClr val="F1E9DA"/>
                    </a:solidFill>
                  </a:tcPr>
                </a:tc>
                <a:tc>
                  <a:txBody>
                    <a:bodyPr/>
                    <a:lstStyle/>
                    <a:p>
                      <a:r>
                        <a:rPr sz="1300" b="0">
                          <a:solidFill>
                            <a:srgbClr val="33475B"/>
                          </a:solidFill>
                          <a:latin typeface="Arial"/>
                        </a:rPr>
                        <a:t>16.52%</a:t>
                      </a:r>
                    </a:p>
                  </a:txBody>
                  <a:tcPr>
                    <a:solidFill>
                      <a:srgbClr val="F1E9DA"/>
                    </a:solidFill>
                  </a:tcPr>
                </a:tc>
                <a:tc>
                  <a:txBody>
                    <a:bodyPr/>
                    <a:lstStyle/>
                    <a:p>
                      <a:r>
                        <a:rPr sz="1300" b="0">
                          <a:solidFill>
                            <a:srgbClr val="33475B"/>
                          </a:solidFill>
                          <a:latin typeface="Arial"/>
                        </a:rPr>
                        <a:t>14.38%</a:t>
                      </a:r>
                    </a:p>
                  </a:txBody>
                  <a:tcPr>
                    <a:solidFill>
                      <a:srgbClr val="F1E9DA"/>
                    </a:solidFill>
                  </a:tcPr>
                </a:tc>
                <a:tc>
                  <a:txBody>
                    <a:bodyPr/>
                    <a:lstStyle/>
                    <a:p>
                      <a:r>
                        <a:rPr sz="1300" b="0">
                          <a:solidFill>
                            <a:srgbClr val="33475B"/>
                          </a:solidFill>
                          <a:latin typeface="Arial"/>
                        </a:rPr>
                        <a:t>1.146</a:t>
                      </a:r>
                    </a:p>
                  </a:txBody>
                  <a:tcPr>
                    <a:solidFill>
                      <a:srgbClr val="F1E9DA"/>
                    </a:solidFill>
                  </a:tcPr>
                </a:tc>
                <a:tc>
                  <a:txBody>
                    <a:bodyPr/>
                    <a:lstStyle/>
                    <a:p>
                      <a:r>
                        <a:rPr sz="1300" b="0">
                          <a:solidFill>
                            <a:srgbClr val="33475B"/>
                          </a:solidFill>
                          <a:latin typeface="Arial"/>
                        </a:rPr>
                        <a:t>34.0%</a:t>
                      </a:r>
                    </a:p>
                  </a:txBody>
                  <a:tcPr>
                    <a:solidFill>
                      <a:srgbClr val="F1E9DA"/>
                    </a:solidFill>
                  </a:tcPr>
                </a:tc>
                <a:tc>
                  <a:txBody>
                    <a:bodyPr/>
                    <a:lstStyle/>
                    <a:p>
                      <a:r>
                        <a:rPr sz="1300" b="0">
                          <a:solidFill>
                            <a:srgbClr val="33475B"/>
                          </a:solidFill>
                          <a:latin typeface="Arial"/>
                        </a:rPr>
                        <a:t>16</a:t>
                      </a:r>
                    </a:p>
                  </a:txBody>
                  <a:tcPr>
                    <a:solidFill>
                      <a:srgbClr val="F1E9DA"/>
                    </a:solidFill>
                  </a:tcPr>
                </a:tc>
                <a:tc>
                  <a:txBody>
                    <a:bodyPr/>
                    <a:lstStyle/>
                    <a:p>
                      <a:r>
                        <a:rPr sz="1300" b="0">
                          <a:solidFill>
                            <a:srgbClr val="33475B"/>
                          </a:solidFill>
                          <a:latin typeface="Arial"/>
                        </a:rPr>
                        <a:t>degenerate — floor count</a:t>
                      </a:r>
                    </a:p>
                  </a:txBody>
                  <a:tcPr>
                    <a:solidFill>
                      <a:srgbClr val="F1E9DA"/>
                    </a:solidFill>
                  </a:tcPr>
                </a:tc>
              </a:tr>
              <a:tr h="310896">
                <a:tc>
                  <a:txBody>
                    <a:bodyPr/>
                    <a:lstStyle/>
                    <a:p>
                      <a:r>
                        <a:rPr sz="1300" b="0">
                          <a:solidFill>
                            <a:srgbClr val="33475B"/>
                          </a:solidFill>
                          <a:latin typeface="Arial"/>
                        </a:rPr>
                        <a:t>13</a:t>
                      </a:r>
                    </a:p>
                  </a:txBody>
                  <a:tcPr>
                    <a:solidFill>
                      <a:srgbClr val="F1E9DA"/>
                    </a:solidFill>
                  </a:tcPr>
                </a:tc>
                <a:tc>
                  <a:txBody>
                    <a:bodyPr/>
                    <a:lstStyle/>
                    <a:p>
                      <a:r>
                        <a:rPr sz="1300" b="0">
                          <a:solidFill>
                            <a:srgbClr val="33475B"/>
                          </a:solidFill>
                          <a:latin typeface="Arial"/>
                        </a:rPr>
                        <a:t>17.08%</a:t>
                      </a:r>
                    </a:p>
                  </a:txBody>
                  <a:tcPr>
                    <a:solidFill>
                      <a:srgbClr val="F1E9DA"/>
                    </a:solidFill>
                  </a:tcPr>
                </a:tc>
                <a:tc>
                  <a:txBody>
                    <a:bodyPr/>
                    <a:lstStyle/>
                    <a:p>
                      <a:r>
                        <a:rPr sz="1300" b="0">
                          <a:solidFill>
                            <a:srgbClr val="33475B"/>
                          </a:solidFill>
                          <a:latin typeface="Arial"/>
                        </a:rPr>
                        <a:t>17.15%</a:t>
                      </a:r>
                    </a:p>
                  </a:txBody>
                  <a:tcPr>
                    <a:solidFill>
                      <a:srgbClr val="F1E9DA"/>
                    </a:solidFill>
                  </a:tcPr>
                </a:tc>
                <a:tc>
                  <a:txBody>
                    <a:bodyPr/>
                    <a:lstStyle/>
                    <a:p>
                      <a:r>
                        <a:rPr sz="1300" b="0">
                          <a:solidFill>
                            <a:srgbClr val="33475B"/>
                          </a:solidFill>
                          <a:latin typeface="Arial"/>
                        </a:rPr>
                        <a:t>1.000</a:t>
                      </a:r>
                    </a:p>
                  </a:txBody>
                  <a:tcPr>
                    <a:solidFill>
                      <a:srgbClr val="F1E9DA"/>
                    </a:solidFill>
                  </a:tcPr>
                </a:tc>
                <a:tc>
                  <a:txBody>
                    <a:bodyPr/>
                    <a:lstStyle/>
                    <a:p>
                      <a:r>
                        <a:rPr sz="1300" b="0">
                          <a:solidFill>
                            <a:srgbClr val="33475B"/>
                          </a:solidFill>
                          <a:latin typeface="Arial"/>
                        </a:rPr>
                        <a:t>40.5%</a:t>
                      </a:r>
                    </a:p>
                  </a:txBody>
                  <a:tcPr>
                    <a:solidFill>
                      <a:srgbClr val="F1E9DA"/>
                    </a:solidFill>
                  </a:tcPr>
                </a:tc>
                <a:tc>
                  <a:txBody>
                    <a:bodyPr/>
                    <a:lstStyle/>
                    <a:p>
                      <a:r>
                        <a:rPr sz="1300" b="0">
                          <a:solidFill>
                            <a:srgbClr val="33475B"/>
                          </a:solidFill>
                          <a:latin typeface="Arial"/>
                        </a:rPr>
                        <a:t>21</a:t>
                      </a:r>
                    </a:p>
                  </a:txBody>
                  <a:tcPr>
                    <a:solidFill>
                      <a:srgbClr val="F1E9DA"/>
                    </a:solidFill>
                  </a:tcPr>
                </a:tc>
                <a:tc>
                  <a:txBody>
                    <a:bodyPr/>
                    <a:lstStyle/>
                    <a:p>
                      <a:r>
                        <a:rPr sz="1300" b="0">
                          <a:solidFill>
                            <a:srgbClr val="33475B"/>
                          </a:solidFill>
                          <a:latin typeface="Arial"/>
                        </a:rPr>
                        <a:t>degenerate — both tests</a:t>
                      </a:r>
                    </a:p>
                  </a:txBody>
                  <a:tcPr>
                    <a:solidFill>
                      <a:srgbClr val="F1E9DA"/>
                    </a:solidFill>
                  </a:tcPr>
                </a:tc>
              </a:tr>
              <a:tr h="310896">
                <a:tc>
                  <a:txBody>
                    <a:bodyPr/>
                    <a:lstStyle/>
                    <a:p>
                      <a:r>
                        <a:rPr sz="1300" b="0">
                          <a:solidFill>
                            <a:srgbClr val="33475B"/>
                          </a:solidFill>
                          <a:latin typeface="Arial"/>
                        </a:rPr>
                        <a:t>14</a:t>
                      </a:r>
                    </a:p>
                  </a:txBody>
                  <a:tcPr>
                    <a:solidFill>
                      <a:srgbClr val="F1E9DA"/>
                    </a:solidFill>
                  </a:tcPr>
                </a:tc>
                <a:tc>
                  <a:txBody>
                    <a:bodyPr/>
                    <a:lstStyle/>
                    <a:p>
                      <a:r>
                        <a:rPr sz="1300" b="0">
                          <a:solidFill>
                            <a:srgbClr val="33475B"/>
                          </a:solidFill>
                          <a:latin typeface="Arial"/>
                        </a:rPr>
                        <a:t>17.63%</a:t>
                      </a:r>
                    </a:p>
                  </a:txBody>
                  <a:tcPr>
                    <a:solidFill>
                      <a:srgbClr val="F1E9DA"/>
                    </a:solidFill>
                  </a:tcPr>
                </a:tc>
                <a:tc>
                  <a:txBody>
                    <a:bodyPr/>
                    <a:lstStyle/>
                    <a:p>
                      <a:r>
                        <a:rPr sz="1300" b="0">
                          <a:solidFill>
                            <a:srgbClr val="33475B"/>
                          </a:solidFill>
                          <a:latin typeface="Arial"/>
                        </a:rPr>
                        <a:t>22.62%</a:t>
                      </a:r>
                    </a:p>
                  </a:txBody>
                  <a:tcPr>
                    <a:solidFill>
                      <a:srgbClr val="F1E9DA"/>
                    </a:solidFill>
                  </a:tcPr>
                </a:tc>
                <a:tc>
                  <a:txBody>
                    <a:bodyPr/>
                    <a:lstStyle/>
                    <a:p>
                      <a:r>
                        <a:rPr sz="1300" b="0">
                          <a:solidFill>
                            <a:srgbClr val="33475B"/>
                          </a:solidFill>
                          <a:latin typeface="Arial"/>
                        </a:rPr>
                        <a:t>0.779</a:t>
                      </a:r>
                    </a:p>
                  </a:txBody>
                  <a:tcPr>
                    <a:solidFill>
                      <a:srgbClr val="F1E9DA"/>
                    </a:solidFill>
                  </a:tcPr>
                </a:tc>
                <a:tc>
                  <a:txBody>
                    <a:bodyPr/>
                    <a:lstStyle/>
                    <a:p>
                      <a:r>
                        <a:rPr sz="1300" b="0">
                          <a:solidFill>
                            <a:srgbClr val="33475B"/>
                          </a:solidFill>
                          <a:latin typeface="Arial"/>
                        </a:rPr>
                        <a:t>60.0%</a:t>
                      </a:r>
                    </a:p>
                  </a:txBody>
                  <a:tcPr>
                    <a:solidFill>
                      <a:srgbClr val="F1E9DA"/>
                    </a:solidFill>
                  </a:tcPr>
                </a:tc>
                <a:tc>
                  <a:txBody>
                    <a:bodyPr/>
                    <a:lstStyle/>
                    <a:p>
                      <a:r>
                        <a:rPr sz="1300" b="0">
                          <a:solidFill>
                            <a:srgbClr val="33475B"/>
                          </a:solidFill>
                          <a:latin typeface="Arial"/>
                        </a:rPr>
                        <a:t>23</a:t>
                      </a:r>
                    </a:p>
                  </a:txBody>
                  <a:tcPr>
                    <a:solidFill>
                      <a:srgbClr val="F1E9DA"/>
                    </a:solidFill>
                  </a:tcPr>
                </a:tc>
                <a:tc>
                  <a:txBody>
                    <a:bodyPr/>
                    <a:lstStyle/>
                    <a:p>
                      <a:r>
                        <a:rPr sz="1300" b="0">
                          <a:solidFill>
                            <a:srgbClr val="33475B"/>
                          </a:solidFill>
                          <a:latin typeface="Arial"/>
                        </a:rPr>
                        <a:t>degenerate — the corner</a:t>
                      </a:r>
                    </a:p>
                  </a:txBody>
                  <a:tcPr>
                    <a:solidFill>
                      <a:srgbClr val="F1E9DA"/>
                    </a:solidFill>
                  </a:tcPr>
                </a:tc>
              </a:tr>
            </a:tbl>
          </a:graphicData>
        </a:graphic>
      </p:graphicFrame>
      <p:sp>
        <p:nvSpPr>
          <p:cNvPr id="11" name="TextBox 10"/>
          <p:cNvSpPr txBox="1"/>
          <p:nvPr/>
        </p:nvSpPr>
        <p:spPr>
          <a:xfrm>
            <a:off x="566928" y="3017520"/>
            <a:ext cx="10881360" cy="822960"/>
          </a:xfrm>
          <a:prstGeom prst="rect">
            <a:avLst/>
          </a:prstGeom>
          <a:noFill/>
        </p:spPr>
        <p:txBody>
          <a:bodyPr wrap="square" anchor="t">
            <a:spAutoFit/>
          </a:bodyPr>
          <a:lstStyle/>
          <a:p>
            <a:pPr algn="l">
              <a:lnSpc>
                <a:spcPct val="135000"/>
              </a:lnSpc>
            </a:pPr>
            <a:r>
              <a:rPr sz="1400" b="0" i="0">
                <a:solidFill>
                  <a:srgbClr val="33475B"/>
                </a:solidFill>
                <a:latin typeface="Arial"/>
              </a:rPr>
              <a:t>· Degenerate: top-3 above 40%, or over 15 positions at the floor</a:t>
            </a:r>
          </a:p>
          <a:p>
            <a:pPr algn="l">
              <a:lnSpc>
                <a:spcPct val="135000"/>
              </a:lnSpc>
            </a:pPr>
            <a:r>
              <a:rPr sz="1400" b="0" i="0">
                <a:solidFill>
                  <a:srgbClr val="33475B"/>
                </a:solidFill>
                <a:latin typeface="Arial"/>
              </a:rPr>
              <a:t>· Thresholds swept 9×9: point 11 wins for floors 10–15</a:t>
            </a:r>
          </a:p>
          <a:p>
            <a:pPr algn="l">
              <a:lnSpc>
                <a:spcPct val="135000"/>
              </a:lnSpc>
            </a:pPr>
            <a:r>
              <a:rPr sz="1400" b="0" i="0">
                <a:solidFill>
                  <a:srgbClr val="33475B"/>
                </a:solidFill>
                <a:latin typeface="Arial"/>
              </a:rPr>
              <a:t>· More than 15 of 30 is simply more than half the book</a:t>
            </a:r>
          </a:p>
        </p:txBody>
      </p:sp>
      <p:sp>
        <p:nvSpPr>
          <p:cNvPr id="12" name="Rectangle 11"/>
          <p:cNvSpPr/>
          <p:nvPr/>
        </p:nvSpPr>
        <p:spPr>
          <a:xfrm>
            <a:off x="566928" y="4041648"/>
            <a:ext cx="50292" cy="640080"/>
          </a:xfrm>
          <a:prstGeom prst="rect">
            <a:avLst/>
          </a:prstGeom>
          <a:solidFill>
            <a:srgbClr val="A6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078224"/>
            <a:ext cx="10515600" cy="585216"/>
          </a:xfrm>
          <a:prstGeom prst="rect">
            <a:avLst/>
          </a:prstGeom>
          <a:noFill/>
        </p:spPr>
        <p:txBody>
          <a:bodyPr wrap="square" anchor="t">
            <a:spAutoFit/>
          </a:bodyPr>
          <a:lstStyle/>
          <a:p>
            <a:pPr algn="l">
              <a:lnSpc>
                <a:spcPct val="120000"/>
              </a:lnSpc>
            </a:pPr>
            <a:r>
              <a:rPr sz="1300" b="0" i="0">
                <a:solidFill>
                  <a:srgbClr val="A63A2E"/>
                </a:solidFill>
                <a:latin typeface="Arial"/>
              </a:rPr>
              <a:t>0.779 is worse than the risk-averse book's 1.067 — more risk for less reward per unit.</a:t>
            </a:r>
          </a:p>
        </p:txBody>
      </p:sp>
      <p:sp>
        <p:nvSpPr>
          <p:cNvPr id="14" name="Rectangle 13"/>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Maximum return without a degeneracy filter returns a corner of the feasible set, not a portfolio anyone would sign.</a:t>
            </a:r>
          </a:p>
        </p:txBody>
      </p:sp>
      <p:sp>
        <p:nvSpPr>
          <p:cNvPr id="16" name="TextBox 15"/>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1" i="0">
                <a:solidFill>
                  <a:srgbClr val="12283F"/>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0" i="0">
                <a:solidFill>
                  <a:srgbClr val="DDE3E8"/>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ESG binds everywhere, and the constraints missed Switzerland</a:t>
            </a:r>
          </a:p>
        </p:txBody>
      </p:sp>
      <p:pic>
        <p:nvPicPr>
          <p:cNvPr id="10" name="Picture 9" descr="s13_esg_switzerland.png"/>
          <p:cNvPicPr>
            <a:picLocks noChangeAspect="1"/>
          </p:cNvPicPr>
          <p:nvPr/>
        </p:nvPicPr>
        <p:blipFill>
          <a:blip r:embed="rId2"/>
          <a:stretch>
            <a:fillRect/>
          </a:stretch>
        </p:blipFill>
        <p:spPr>
          <a:xfrm>
            <a:off x="566928" y="1729862"/>
            <a:ext cx="6903720" cy="3745746"/>
          </a:xfrm>
          <a:prstGeom prst="rect">
            <a:avLst/>
          </a:prstGeom>
        </p:spPr>
      </p:pic>
      <p:sp>
        <p:nvSpPr>
          <p:cNvPr id="11" name="TextBox 10"/>
          <p:cNvSpPr txBox="1"/>
          <p:nvPr/>
        </p:nvSpPr>
        <p:spPr>
          <a:xfrm>
            <a:off x="7726679" y="1399032"/>
            <a:ext cx="3794760" cy="2743200"/>
          </a:xfrm>
          <a:prstGeom prst="rect">
            <a:avLst/>
          </a:prstGeom>
          <a:noFill/>
        </p:spPr>
        <p:txBody>
          <a:bodyPr wrap="square" anchor="t">
            <a:spAutoFit/>
          </a:bodyPr>
          <a:lstStyle/>
          <a:p>
            <a:pPr algn="l">
              <a:lnSpc>
                <a:spcPct val="145000"/>
              </a:lnSpc>
            </a:pPr>
            <a:r>
              <a:rPr sz="1500" b="0" i="0">
                <a:solidFill>
                  <a:srgbClr val="33475B"/>
                </a:solidFill>
                <a:latin typeface="Arial"/>
              </a:rPr>
              <a:t>· A region cap cannot see one country</a:t>
            </a:r>
          </a:p>
          <a:p>
            <a:pPr algn="l">
              <a:lnSpc>
                <a:spcPct val="145000"/>
              </a:lnSpc>
            </a:pPr>
            <a:r>
              <a:rPr sz="1500" b="0" i="0">
                <a:solidFill>
                  <a:srgbClr val="33475B"/>
                </a:solidFill>
                <a:latin typeface="Arial"/>
              </a:rPr>
              <a:t>· A sector cap cannot see a country spanning two sectors</a:t>
            </a:r>
          </a:p>
          <a:p>
            <a:pPr algn="l">
              <a:lnSpc>
                <a:spcPct val="145000"/>
              </a:lnSpc>
            </a:pPr>
            <a:r>
              <a:rPr sz="1500" b="0" i="0">
                <a:solidFill>
                  <a:srgbClr val="33475B"/>
                </a:solidFill>
                <a:latin typeface="Arial"/>
              </a:rPr>
              <a:t>· A 25% cap costs 0.067 pp and removes 11.7 pp of concentration</a:t>
            </a:r>
          </a:p>
        </p:txBody>
      </p:sp>
      <p:sp>
        <p:nvSpPr>
          <p:cNvPr id="12" name="Rectangle 11"/>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The US exemption is forced, not chosen — with a 25% cap the infeasibility is exactly 1 − 0.60 − 0.25 = 0.15.</a:t>
            </a:r>
          </a:p>
        </p:txBody>
      </p:sp>
      <p:sp>
        <p:nvSpPr>
          <p:cNvPr id="14" name="TextBox 13"/>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1" i="0">
                <a:solidFill>
                  <a:srgbClr val="12283F"/>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0" i="0">
                <a:solidFill>
                  <a:srgbClr val="DDE3E8"/>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Averages hide what the portfolio actually does</a:t>
            </a:r>
          </a:p>
        </p:txBody>
      </p:sp>
      <p:pic>
        <p:nvPicPr>
          <p:cNvPr id="10" name="Picture 9" descr="s14_capture_underwater.png"/>
          <p:cNvPicPr>
            <a:picLocks noChangeAspect="1"/>
          </p:cNvPicPr>
          <p:nvPr/>
        </p:nvPicPr>
        <p:blipFill>
          <a:blip r:embed="rId2"/>
          <a:stretch>
            <a:fillRect/>
          </a:stretch>
        </p:blipFill>
        <p:spPr>
          <a:xfrm>
            <a:off x="566928" y="1813631"/>
            <a:ext cx="6903720" cy="3578209"/>
          </a:xfrm>
          <a:prstGeom prst="rect">
            <a:avLst/>
          </a:prstGeom>
        </p:spPr>
      </p:pic>
      <p:sp>
        <p:nvSpPr>
          <p:cNvPr id="11" name="TextBox 10"/>
          <p:cNvSpPr txBox="1"/>
          <p:nvPr/>
        </p:nvSpPr>
        <p:spPr>
          <a:xfrm>
            <a:off x="7726679" y="1399032"/>
            <a:ext cx="3794760" cy="2743200"/>
          </a:xfrm>
          <a:prstGeom prst="rect">
            <a:avLst/>
          </a:prstGeom>
          <a:noFill/>
        </p:spPr>
        <p:txBody>
          <a:bodyPr wrap="square" anchor="t">
            <a:spAutoFit/>
          </a:bodyPr>
          <a:lstStyle/>
          <a:p>
            <a:pPr algn="l">
              <a:lnSpc>
                <a:spcPct val="145000"/>
              </a:lnSpc>
            </a:pPr>
            <a:r>
              <a:rPr sz="1500" b="0" i="0">
                <a:solidFill>
                  <a:srgbClr val="33475B"/>
                </a:solidFill>
                <a:latin typeface="Arial"/>
              </a:rPr>
              <a:t>· Captures 103% of up months, 90% of down months</a:t>
            </a:r>
          </a:p>
          <a:p>
            <a:pPr algn="l">
              <a:lnSpc>
                <a:spcPct val="145000"/>
              </a:lnSpc>
            </a:pPr>
            <a:r>
              <a:rPr sz="1500" b="0" i="0">
                <a:solidFill>
                  <a:srgbClr val="33475B"/>
                </a:solidFill>
                <a:latin typeface="Arial"/>
              </a:rPr>
              <a:t>· Minimum variance stays underwater 661 days vs 396 for 1/N</a:t>
            </a:r>
          </a:p>
          <a:p>
            <a:pPr algn="l">
              <a:lnSpc>
                <a:spcPct val="145000"/>
              </a:lnSpc>
            </a:pPr>
            <a:r>
              <a:rPr sz="1500" b="0" i="0">
                <a:solidFill>
                  <a:srgbClr val="33475B"/>
                </a:solidFill>
                <a:latin typeface="Arial"/>
              </a:rPr>
              <a:t>· The shallower drawdown is also the longer one</a:t>
            </a:r>
          </a:p>
        </p:txBody>
      </p:sp>
      <p:sp>
        <p:nvSpPr>
          <p:cNvPr id="12" name="Rectangle 11"/>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The capture asymmetry is the strongest argument for the recommendation, and a Sharpe ratio cannot show it.</a:t>
            </a:r>
          </a:p>
        </p:txBody>
      </p:sp>
      <p:sp>
        <p:nvSpPr>
          <p:cNvPr id="14" name="TextBox 13"/>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1" i="0">
                <a:solidFill>
                  <a:srgbClr val="12283F"/>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0" i="0">
                <a:solidFill>
                  <a:srgbClr val="DDE3E8"/>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Out of sample: risk edge real, return edge not</a:t>
            </a:r>
          </a:p>
        </p:txBody>
      </p:sp>
      <p:pic>
        <p:nvPicPr>
          <p:cNvPr id="10" name="Picture 9" descr="s15_equity_curves.png"/>
          <p:cNvPicPr>
            <a:picLocks noChangeAspect="1"/>
          </p:cNvPicPr>
          <p:nvPr/>
        </p:nvPicPr>
        <p:blipFill>
          <a:blip r:embed="rId2"/>
          <a:stretch>
            <a:fillRect/>
          </a:stretch>
        </p:blipFill>
        <p:spPr>
          <a:xfrm>
            <a:off x="2359166" y="1353312"/>
            <a:ext cx="7296883" cy="2331720"/>
          </a:xfrm>
          <a:prstGeom prst="rect">
            <a:avLst/>
          </a:prstGeom>
        </p:spPr>
      </p:pic>
      <p:graphicFrame>
        <p:nvGraphicFramePr>
          <p:cNvPr id="11" name="Table 10"/>
          <p:cNvGraphicFramePr>
            <a:graphicFrameLocks noGrp="1"/>
          </p:cNvGraphicFramePr>
          <p:nvPr/>
        </p:nvGraphicFramePr>
        <p:xfrm>
          <a:off x="640080" y="3749039"/>
          <a:ext cx="10881358" cy="1554480"/>
        </p:xfrm>
        <a:graphic>
          <a:graphicData uri="http://schemas.openxmlformats.org/drawingml/2006/table">
            <a:tbl>
              <a:tblPr firstRow="1" bandRow="1">
                <a:tableStyleId>{5C22544A-7EE6-4342-B048-85BDC9FD1C3A}</a:tableStyleId>
              </a:tblPr>
              <a:tblGrid>
                <a:gridCol w="3956858"/>
                <a:gridCol w="1731125"/>
                <a:gridCol w="1978429"/>
                <a:gridCol w="1483821"/>
                <a:gridCol w="1731125"/>
              </a:tblGrid>
              <a:tr h="310896">
                <a:tc>
                  <a:txBody>
                    <a:bodyPr/>
                    <a:lstStyle/>
                    <a:p>
                      <a:r>
                        <a:rPr sz="1100" b="1">
                          <a:solidFill>
                            <a:srgbClr val="12283F"/>
                          </a:solidFill>
                          <a:latin typeface="Arial"/>
                        </a:rPr>
                        <a:t>Book</a:t>
                      </a:r>
                    </a:p>
                  </a:txBody>
                  <a:tcPr>
                    <a:solidFill>
                      <a:srgbClr val="FBFAF7"/>
                    </a:solidFill>
                  </a:tcPr>
                </a:tc>
                <a:tc>
                  <a:txBody>
                    <a:bodyPr/>
                    <a:lstStyle/>
                    <a:p>
                      <a:r>
                        <a:rPr sz="1100" b="1">
                          <a:solidFill>
                            <a:srgbClr val="12283F"/>
                          </a:solidFill>
                          <a:latin typeface="Arial"/>
                        </a:rPr>
                        <a:t>CAGR</a:t>
                      </a:r>
                    </a:p>
                  </a:txBody>
                  <a:tcPr>
                    <a:solidFill>
                      <a:srgbClr val="FBFAF7"/>
                    </a:solidFill>
                  </a:tcPr>
                </a:tc>
                <a:tc>
                  <a:txBody>
                    <a:bodyPr/>
                    <a:lstStyle/>
                    <a:p>
                      <a:r>
                        <a:rPr sz="1100" b="1">
                          <a:solidFill>
                            <a:srgbClr val="12283F"/>
                          </a:solidFill>
                          <a:latin typeface="Arial"/>
                        </a:rPr>
                        <a:t>Volatility</a:t>
                      </a:r>
                    </a:p>
                  </a:txBody>
                  <a:tcPr>
                    <a:solidFill>
                      <a:srgbClr val="FBFAF7"/>
                    </a:solidFill>
                  </a:tcPr>
                </a:tc>
                <a:tc>
                  <a:txBody>
                    <a:bodyPr/>
                    <a:lstStyle/>
                    <a:p>
                      <a:r>
                        <a:rPr sz="1100" b="1">
                          <a:solidFill>
                            <a:srgbClr val="12283F"/>
                          </a:solidFill>
                          <a:latin typeface="Arial"/>
                        </a:rPr>
                        <a:t>Sharpe</a:t>
                      </a:r>
                    </a:p>
                  </a:txBody>
                  <a:tcPr>
                    <a:solidFill>
                      <a:srgbClr val="FBFAF7"/>
                    </a:solidFill>
                  </a:tcPr>
                </a:tc>
                <a:tc>
                  <a:txBody>
                    <a:bodyPr/>
                    <a:lstStyle/>
                    <a:p>
                      <a:r>
                        <a:rPr sz="1100" b="1">
                          <a:solidFill>
                            <a:srgbClr val="12283F"/>
                          </a:solidFill>
                          <a:latin typeface="Arial"/>
                        </a:rPr>
                        <a:t>Max DD</a:t>
                      </a:r>
                    </a:p>
                  </a:txBody>
                  <a:tcPr>
                    <a:solidFill>
                      <a:srgbClr val="FBFAF7"/>
                    </a:solidFill>
                  </a:tcPr>
                </a:tc>
              </a:tr>
              <a:tr h="310896">
                <a:tc>
                  <a:txBody>
                    <a:bodyPr/>
                    <a:lstStyle/>
                    <a:p>
                      <a:r>
                        <a:rPr sz="1300" b="0">
                          <a:solidFill>
                            <a:srgbClr val="33475B"/>
                          </a:solidFill>
                          <a:latin typeface="Arial"/>
                        </a:rPr>
                        <a:t>minvar</a:t>
                      </a:r>
                    </a:p>
                  </a:txBody>
                  <a:tcPr>
                    <a:solidFill>
                      <a:srgbClr val="FBFAF7"/>
                    </a:solidFill>
                  </a:tcPr>
                </a:tc>
                <a:tc>
                  <a:txBody>
                    <a:bodyPr/>
                    <a:lstStyle/>
                    <a:p>
                      <a:r>
                        <a:rPr sz="1300" b="0">
                          <a:solidFill>
                            <a:srgbClr val="33475B"/>
                          </a:solidFill>
                          <a:latin typeface="Arial"/>
                        </a:rPr>
                        <a:t>10.94%</a:t>
                      </a:r>
                    </a:p>
                  </a:txBody>
                  <a:tcPr>
                    <a:solidFill>
                      <a:srgbClr val="FBFAF7"/>
                    </a:solidFill>
                  </a:tcPr>
                </a:tc>
                <a:tc>
                  <a:txBody>
                    <a:bodyPr/>
                    <a:lstStyle/>
                    <a:p>
                      <a:r>
                        <a:rPr sz="1300" b="0">
                          <a:solidFill>
                            <a:srgbClr val="33475B"/>
                          </a:solidFill>
                          <a:latin typeface="Arial"/>
                        </a:rPr>
                        <a:t>13.20%</a:t>
                      </a:r>
                    </a:p>
                  </a:txBody>
                  <a:tcPr>
                    <a:solidFill>
                      <a:srgbClr val="FBFAF7"/>
                    </a:solidFill>
                  </a:tcPr>
                </a:tc>
                <a:tc>
                  <a:txBody>
                    <a:bodyPr/>
                    <a:lstStyle/>
                    <a:p>
                      <a:r>
                        <a:rPr sz="1300" b="0">
                          <a:solidFill>
                            <a:srgbClr val="33475B"/>
                          </a:solidFill>
                          <a:latin typeface="Arial"/>
                        </a:rPr>
                        <a:t>0.829</a:t>
                      </a:r>
                    </a:p>
                  </a:txBody>
                  <a:tcPr>
                    <a:solidFill>
                      <a:srgbClr val="FBFAF7"/>
                    </a:solidFill>
                  </a:tcPr>
                </a:tc>
                <a:tc>
                  <a:txBody>
                    <a:bodyPr/>
                    <a:lstStyle/>
                    <a:p>
                      <a:r>
                        <a:rPr sz="1300" b="0">
                          <a:solidFill>
                            <a:srgbClr val="33475B"/>
                          </a:solidFill>
                          <a:latin typeface="Arial"/>
                        </a:rPr>
                        <a:t>−33.81%</a:t>
                      </a:r>
                    </a:p>
                  </a:txBody>
                  <a:tcPr>
                    <a:solidFill>
                      <a:srgbClr val="FBFAF7"/>
                    </a:solidFill>
                  </a:tcPr>
                </a:tc>
              </a:tr>
              <a:tr h="310896">
                <a:tc>
                  <a:txBody>
                    <a:bodyPr/>
                    <a:lstStyle/>
                    <a:p>
                      <a:r>
                        <a:rPr sz="1300" b="1">
                          <a:solidFill>
                            <a:srgbClr val="12283F"/>
                          </a:solidFill>
                          <a:latin typeface="Arial"/>
                        </a:rPr>
                        <a:t>mandate20  (Neutral stand-in)</a:t>
                      </a:r>
                    </a:p>
                  </a:txBody>
                  <a:tcPr>
                    <a:solidFill>
                      <a:srgbClr val="EDF0F3"/>
                    </a:solidFill>
                  </a:tcPr>
                </a:tc>
                <a:tc>
                  <a:txBody>
                    <a:bodyPr/>
                    <a:lstStyle/>
                    <a:p>
                      <a:r>
                        <a:rPr sz="1300" b="1">
                          <a:solidFill>
                            <a:srgbClr val="12283F"/>
                          </a:solidFill>
                          <a:latin typeface="Arial"/>
                        </a:rPr>
                        <a:t>17.60%</a:t>
                      </a:r>
                    </a:p>
                  </a:txBody>
                  <a:tcPr>
                    <a:solidFill>
                      <a:srgbClr val="EDF0F3"/>
                    </a:solidFill>
                  </a:tcPr>
                </a:tc>
                <a:tc>
                  <a:txBody>
                    <a:bodyPr/>
                    <a:lstStyle/>
                    <a:p>
                      <a:r>
                        <a:rPr sz="1300" b="1">
                          <a:solidFill>
                            <a:srgbClr val="12283F"/>
                          </a:solidFill>
                          <a:latin typeface="Arial"/>
                        </a:rPr>
                        <a:t>20.08%</a:t>
                      </a:r>
                    </a:p>
                  </a:txBody>
                  <a:tcPr>
                    <a:solidFill>
                      <a:srgbClr val="EDF0F3"/>
                    </a:solidFill>
                  </a:tcPr>
                </a:tc>
                <a:tc>
                  <a:txBody>
                    <a:bodyPr/>
                    <a:lstStyle/>
                    <a:p>
                      <a:r>
                        <a:rPr sz="1300" b="1">
                          <a:solidFill>
                            <a:srgbClr val="12283F"/>
                          </a:solidFill>
                          <a:latin typeface="Arial"/>
                        </a:rPr>
                        <a:t>0.876</a:t>
                      </a:r>
                    </a:p>
                  </a:txBody>
                  <a:tcPr>
                    <a:solidFill>
                      <a:srgbClr val="EDF0F3"/>
                    </a:solidFill>
                  </a:tcPr>
                </a:tc>
                <a:tc>
                  <a:txBody>
                    <a:bodyPr/>
                    <a:lstStyle/>
                    <a:p>
                      <a:r>
                        <a:rPr sz="1300" b="1">
                          <a:solidFill>
                            <a:srgbClr val="12283F"/>
                          </a:solidFill>
                          <a:latin typeface="Arial"/>
                        </a:rPr>
                        <a:t>−42.31%</a:t>
                      </a:r>
                    </a:p>
                  </a:txBody>
                  <a:tcPr>
                    <a:solidFill>
                      <a:srgbClr val="EDF0F3"/>
                    </a:solidFill>
                  </a:tcPr>
                </a:tc>
              </a:tr>
              <a:tr h="310896">
                <a:tc>
                  <a:txBody>
                    <a:bodyPr/>
                    <a:lstStyle/>
                    <a:p>
                      <a:r>
                        <a:rPr sz="1300" b="0">
                          <a:solidFill>
                            <a:srgbClr val="33475B"/>
                          </a:solidFill>
                          <a:latin typeface="Arial"/>
                        </a:rPr>
                        <a:t>mandate10</a:t>
                      </a:r>
                    </a:p>
                  </a:txBody>
                  <a:tcPr>
                    <a:solidFill>
                      <a:srgbClr val="FBFAF7"/>
                    </a:solidFill>
                  </a:tcPr>
                </a:tc>
                <a:tc>
                  <a:txBody>
                    <a:bodyPr/>
                    <a:lstStyle/>
                    <a:p>
                      <a:r>
                        <a:rPr sz="1300" b="0">
                          <a:solidFill>
                            <a:srgbClr val="33475B"/>
                          </a:solidFill>
                          <a:latin typeface="Arial"/>
                        </a:rPr>
                        <a:t>21.29%</a:t>
                      </a:r>
                    </a:p>
                  </a:txBody>
                  <a:tcPr>
                    <a:solidFill>
                      <a:srgbClr val="FBFAF7"/>
                    </a:solidFill>
                  </a:tcPr>
                </a:tc>
                <a:tc>
                  <a:txBody>
                    <a:bodyPr/>
                    <a:lstStyle/>
                    <a:p>
                      <a:r>
                        <a:rPr sz="1300" b="0">
                          <a:solidFill>
                            <a:srgbClr val="33475B"/>
                          </a:solidFill>
                          <a:latin typeface="Arial"/>
                        </a:rPr>
                        <a:t>23.30%</a:t>
                      </a:r>
                    </a:p>
                  </a:txBody>
                  <a:tcPr>
                    <a:solidFill>
                      <a:srgbClr val="FBFAF7"/>
                    </a:solidFill>
                  </a:tcPr>
                </a:tc>
                <a:tc>
                  <a:txBody>
                    <a:bodyPr/>
                    <a:lstStyle/>
                    <a:p>
                      <a:r>
                        <a:rPr sz="1300" b="0">
                          <a:solidFill>
                            <a:srgbClr val="33475B"/>
                          </a:solidFill>
                          <a:latin typeface="Arial"/>
                        </a:rPr>
                        <a:t>0.914</a:t>
                      </a:r>
                    </a:p>
                  </a:txBody>
                  <a:tcPr>
                    <a:solidFill>
                      <a:srgbClr val="FBFAF7"/>
                    </a:solidFill>
                  </a:tcPr>
                </a:tc>
                <a:tc>
                  <a:txBody>
                    <a:bodyPr/>
                    <a:lstStyle/>
                    <a:p>
                      <a:r>
                        <a:rPr sz="1300" b="0">
                          <a:solidFill>
                            <a:srgbClr val="33475B"/>
                          </a:solidFill>
                          <a:latin typeface="Arial"/>
                        </a:rPr>
                        <a:t>−46.00%</a:t>
                      </a:r>
                    </a:p>
                  </a:txBody>
                  <a:tcPr>
                    <a:solidFill>
                      <a:srgbClr val="FBFAF7"/>
                    </a:solidFill>
                  </a:tcPr>
                </a:tc>
              </a:tr>
              <a:tr h="310896">
                <a:tc>
                  <a:txBody>
                    <a:bodyPr/>
                    <a:lstStyle/>
                    <a:p>
                      <a:r>
                        <a:rPr sz="1300" b="0">
                          <a:solidFill>
                            <a:srgbClr val="33475B"/>
                          </a:solidFill>
                          <a:latin typeface="Arial"/>
                        </a:rPr>
                        <a:t>1/N benchmark</a:t>
                      </a:r>
                    </a:p>
                  </a:txBody>
                  <a:tcPr>
                    <a:solidFill>
                      <a:srgbClr val="FBFAF7"/>
                    </a:solidFill>
                  </a:tcPr>
                </a:tc>
                <a:tc>
                  <a:txBody>
                    <a:bodyPr/>
                    <a:lstStyle/>
                    <a:p>
                      <a:r>
                        <a:rPr sz="1300" b="0">
                          <a:solidFill>
                            <a:srgbClr val="33475B"/>
                          </a:solidFill>
                          <a:latin typeface="Arial"/>
                        </a:rPr>
                        <a:t>14.65%</a:t>
                      </a:r>
                    </a:p>
                  </a:txBody>
                  <a:tcPr>
                    <a:solidFill>
                      <a:srgbClr val="FBFAF7"/>
                    </a:solidFill>
                  </a:tcPr>
                </a:tc>
                <a:tc>
                  <a:txBody>
                    <a:bodyPr/>
                    <a:lstStyle/>
                    <a:p>
                      <a:r>
                        <a:rPr sz="1300" b="0">
                          <a:solidFill>
                            <a:srgbClr val="33475B"/>
                          </a:solidFill>
                          <a:latin typeface="Arial"/>
                        </a:rPr>
                        <a:t>16.91%</a:t>
                      </a:r>
                    </a:p>
                  </a:txBody>
                  <a:tcPr>
                    <a:solidFill>
                      <a:srgbClr val="FBFAF7"/>
                    </a:solidFill>
                  </a:tcPr>
                </a:tc>
                <a:tc>
                  <a:txBody>
                    <a:bodyPr/>
                    <a:lstStyle/>
                    <a:p>
                      <a:r>
                        <a:rPr sz="1300" b="0">
                          <a:solidFill>
                            <a:srgbClr val="33475B"/>
                          </a:solidFill>
                          <a:latin typeface="Arial"/>
                        </a:rPr>
                        <a:t>0.866</a:t>
                      </a:r>
                    </a:p>
                  </a:txBody>
                  <a:tcPr>
                    <a:solidFill>
                      <a:srgbClr val="FBFAF7"/>
                    </a:solidFill>
                  </a:tcPr>
                </a:tc>
                <a:tc>
                  <a:txBody>
                    <a:bodyPr/>
                    <a:lstStyle/>
                    <a:p>
                      <a:r>
                        <a:rPr sz="1300" b="0">
                          <a:solidFill>
                            <a:srgbClr val="33475B"/>
                          </a:solidFill>
                          <a:latin typeface="Arial"/>
                        </a:rPr>
                        <a:t>−37.68%</a:t>
                      </a:r>
                    </a:p>
                  </a:txBody>
                  <a:tcPr>
                    <a:solidFill>
                      <a:srgbClr val="FBFAF7"/>
                    </a:solidFill>
                  </a:tcPr>
                </a:tc>
              </a:tr>
            </a:tbl>
          </a:graphicData>
        </a:graphic>
      </p:graphicFrame>
      <p:sp>
        <p:nvSpPr>
          <p:cNvPr id="12" name="TextBox 11"/>
          <p:cNvSpPr txBox="1"/>
          <p:nvPr/>
        </p:nvSpPr>
        <p:spPr>
          <a:xfrm>
            <a:off x="566928" y="5413248"/>
            <a:ext cx="10881360" cy="822960"/>
          </a:xfrm>
          <a:prstGeom prst="rect">
            <a:avLst/>
          </a:prstGeom>
          <a:noFill/>
        </p:spPr>
        <p:txBody>
          <a:bodyPr wrap="square" anchor="t">
            <a:spAutoFit/>
          </a:bodyPr>
          <a:lstStyle/>
          <a:p>
            <a:pPr algn="l">
              <a:lnSpc>
                <a:spcPct val="135000"/>
              </a:lnSpc>
            </a:pPr>
            <a:r>
              <a:rPr sz="1400" b="0" i="0">
                <a:solidFill>
                  <a:srgbClr val="33475B"/>
                </a:solidFill>
                <a:latin typeface="Arial"/>
              </a:rPr>
              <a:t>· 31 rebalances, 3-year rolling window, 7.7 years</a:t>
            </a:r>
          </a:p>
          <a:p>
            <a:pPr algn="l">
              <a:lnSpc>
                <a:spcPct val="135000"/>
              </a:lnSpc>
            </a:pPr>
            <a:r>
              <a:rPr sz="1400" b="0" i="0">
                <a:solidFill>
                  <a:srgbClr val="33475B"/>
                </a:solidFill>
                <a:latin typeface="Arial"/>
              </a:rPr>
              <a:t>· Only data available before each date is used</a:t>
            </a:r>
          </a:p>
          <a:p>
            <a:pPr algn="l">
              <a:lnSpc>
                <a:spcPct val="135000"/>
              </a:lnSpc>
            </a:pPr>
            <a:r>
              <a:rPr sz="1400" b="0" i="0">
                <a:solidFill>
                  <a:srgbClr val="33475B"/>
                </a:solidFill>
                <a:latin typeface="Arial"/>
              </a:rPr>
              <a:t>· The profile is a relative mandate, comparable across regimes</a:t>
            </a:r>
          </a:p>
        </p:txBody>
      </p:sp>
      <p:sp>
        <p:nvSpPr>
          <p:cNvPr id="13" name="Rectangle 12"/>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Higher CAGR came with proportionally higher risk — the ranking on Sharpe barely moves.</a:t>
            </a:r>
          </a:p>
        </p:txBody>
      </p:sp>
      <p:sp>
        <p:nvSpPr>
          <p:cNvPr id="15" name="TextBox 14"/>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1" i="0">
                <a:solidFill>
                  <a:srgbClr val="12283F"/>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0" i="0">
                <a:solidFill>
                  <a:srgbClr val="DDE3E8"/>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Every Sharpe difference sits inside the noise band</a:t>
            </a:r>
          </a:p>
        </p:txBody>
      </p:sp>
      <p:pic>
        <p:nvPicPr>
          <p:cNvPr id="10" name="Picture 9" descr="s16_significance.png"/>
          <p:cNvPicPr>
            <a:picLocks noChangeAspect="1"/>
          </p:cNvPicPr>
          <p:nvPr/>
        </p:nvPicPr>
        <p:blipFill>
          <a:blip r:embed="rId2"/>
          <a:stretch>
            <a:fillRect/>
          </a:stretch>
        </p:blipFill>
        <p:spPr>
          <a:xfrm>
            <a:off x="566928" y="2059872"/>
            <a:ext cx="6903720" cy="3085727"/>
          </a:xfrm>
          <a:prstGeom prst="rect">
            <a:avLst/>
          </a:prstGeom>
        </p:spPr>
      </p:pic>
      <p:sp>
        <p:nvSpPr>
          <p:cNvPr id="11" name="TextBox 10"/>
          <p:cNvSpPr txBox="1"/>
          <p:nvPr/>
        </p:nvSpPr>
        <p:spPr>
          <a:xfrm>
            <a:off x="7726679" y="1399032"/>
            <a:ext cx="3794760" cy="2743200"/>
          </a:xfrm>
          <a:prstGeom prst="rect">
            <a:avLst/>
          </a:prstGeom>
          <a:noFill/>
        </p:spPr>
        <p:txBody>
          <a:bodyPr wrap="square" anchor="t">
            <a:spAutoFit/>
          </a:bodyPr>
          <a:lstStyle/>
          <a:p>
            <a:pPr algn="l">
              <a:lnSpc>
                <a:spcPct val="145000"/>
              </a:lnSpc>
            </a:pPr>
            <a:r>
              <a:rPr sz="1500" b="0" i="0">
                <a:solidFill>
                  <a:srgbClr val="33475B"/>
                </a:solidFill>
                <a:latin typeface="Arial"/>
              </a:rPr>
              <a:t>· After 10 bp of costs the return-seeking book falls below 1/N</a:t>
            </a:r>
          </a:p>
          <a:p>
            <a:pPr algn="l">
              <a:lnSpc>
                <a:spcPct val="145000"/>
              </a:lnSpc>
            </a:pPr>
            <a:r>
              <a:rPr sz="1500" b="0" i="0">
                <a:solidFill>
                  <a:srgbClr val="33475B"/>
                </a:solidFill>
                <a:latin typeface="Arial"/>
              </a:rPr>
              <a:t>· 0.857 against 0.866, at 170% annual turnover</a:t>
            </a:r>
          </a:p>
          <a:p>
            <a:pPr algn="l">
              <a:lnSpc>
                <a:spcPct val="145000"/>
              </a:lnSpc>
            </a:pPr>
            <a:r>
              <a:rPr sz="1500" b="0" i="0">
                <a:solidFill>
                  <a:srgbClr val="33475B"/>
                </a:solidFill>
                <a:latin typeface="Arial"/>
              </a:rPr>
              <a:t>· Jobson-Korkie with Memmel, not a t-test on returns</a:t>
            </a:r>
          </a:p>
        </p:txBody>
      </p:sp>
      <p:sp>
        <p:nvSpPr>
          <p:cNvPr id="12" name="Rectangle 11"/>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Over 7.7 years the honest answer is that no book is statistically distinguishable from the benchmark — in either direction.</a:t>
            </a:r>
          </a:p>
        </p:txBody>
      </p:sp>
      <p:sp>
        <p:nvSpPr>
          <p:cNvPr id="14" name="TextBox 13"/>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1" i="0">
                <a:solidFill>
                  <a:srgbClr val="12283F"/>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0" i="0">
                <a:solidFill>
                  <a:srgbClr val="DDE3E8"/>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The expected-return model forecasts backwards</a:t>
            </a:r>
          </a:p>
        </p:txBody>
      </p:sp>
      <p:pic>
        <p:nvPicPr>
          <p:cNvPr id="10" name="Picture 9" descr="s17_pred_vs_realised.png"/>
          <p:cNvPicPr>
            <a:picLocks noChangeAspect="1"/>
          </p:cNvPicPr>
          <p:nvPr/>
        </p:nvPicPr>
        <p:blipFill>
          <a:blip r:embed="rId2"/>
          <a:stretch>
            <a:fillRect/>
          </a:stretch>
        </p:blipFill>
        <p:spPr>
          <a:xfrm>
            <a:off x="566928" y="1579607"/>
            <a:ext cx="6903720" cy="4046256"/>
          </a:xfrm>
          <a:prstGeom prst="rect">
            <a:avLst/>
          </a:prstGeom>
        </p:spPr>
      </p:pic>
      <p:sp>
        <p:nvSpPr>
          <p:cNvPr id="11" name="TextBox 10"/>
          <p:cNvSpPr txBox="1"/>
          <p:nvPr/>
        </p:nvSpPr>
        <p:spPr>
          <a:xfrm>
            <a:off x="7726679" y="1399032"/>
            <a:ext cx="3794760" cy="2743200"/>
          </a:xfrm>
          <a:prstGeom prst="rect">
            <a:avLst/>
          </a:prstGeom>
          <a:noFill/>
        </p:spPr>
        <p:txBody>
          <a:bodyPr wrap="square" anchor="t">
            <a:spAutoFit/>
          </a:bodyPr>
          <a:lstStyle/>
          <a:p>
            <a:pPr algn="l">
              <a:lnSpc>
                <a:spcPct val="145000"/>
              </a:lnSpc>
            </a:pPr>
            <a:r>
              <a:rPr sz="1500" b="0" i="0">
                <a:solidFill>
                  <a:srgbClr val="33475B"/>
                </a:solidFill>
                <a:latin typeface="Arial"/>
              </a:rPr>
              <a:t>· Correlation -0.43 over 31 rebalances, p = 0.016</a:t>
            </a:r>
          </a:p>
          <a:p>
            <a:pPr algn="l">
              <a:lnSpc>
                <a:spcPct val="145000"/>
              </a:lnSpc>
            </a:pPr>
            <a:r>
              <a:rPr sz="1500" b="0" i="0">
                <a:solidFill>
                  <a:srgbClr val="33475B"/>
                </a:solidFill>
                <a:latin typeface="Arial"/>
              </a:rPr>
              <a:t>· Predicted 47.3%, realised 31.5%</a:t>
            </a:r>
          </a:p>
          <a:p>
            <a:pPr algn="l">
              <a:lnSpc>
                <a:spcPct val="145000"/>
              </a:lnSpc>
            </a:pPr>
            <a:r>
              <a:rPr sz="1500" b="0" i="0">
                <a:solidFill>
                  <a:srgbClr val="33475B"/>
                </a:solidFill>
                <a:latin typeface="Arial"/>
              </a:rPr>
              <a:t>· Minimum variance predicted 9.7%, realised 15.6%</a:t>
            </a:r>
          </a:p>
        </p:txBody>
      </p:sp>
      <p:sp>
        <p:nvSpPr>
          <p:cNvPr id="12" name="Rectangle 11"/>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That is error maximisation made visible, and it is why the edge is in risk and not in return.</a:t>
            </a:r>
          </a:p>
        </p:txBody>
      </p:sp>
      <p:sp>
        <p:nvSpPr>
          <p:cNvPr id="14" name="TextBox 13"/>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1" i="0">
                <a:solidFill>
                  <a:srgbClr val="12283F"/>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0" i="0">
                <a:solidFill>
                  <a:srgbClr val="DDE3E8"/>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The crash realised 6.7× the risk we forecast</a:t>
            </a:r>
          </a:p>
        </p:txBody>
      </p:sp>
      <p:pic>
        <p:nvPicPr>
          <p:cNvPr id="10" name="Picture 9" descr="s18_crisis.png"/>
          <p:cNvPicPr>
            <a:picLocks noChangeAspect="1"/>
          </p:cNvPicPr>
          <p:nvPr/>
        </p:nvPicPr>
        <p:blipFill>
          <a:blip r:embed="rId2"/>
          <a:stretch>
            <a:fillRect/>
          </a:stretch>
        </p:blipFill>
        <p:spPr>
          <a:xfrm>
            <a:off x="566928" y="2420165"/>
            <a:ext cx="6903720" cy="2365141"/>
          </a:xfrm>
          <a:prstGeom prst="rect">
            <a:avLst/>
          </a:prstGeom>
        </p:spPr>
      </p:pic>
      <p:sp>
        <p:nvSpPr>
          <p:cNvPr id="11" name="TextBox 10"/>
          <p:cNvSpPr txBox="1"/>
          <p:nvPr/>
        </p:nvSpPr>
        <p:spPr>
          <a:xfrm>
            <a:off x="7726679" y="1399032"/>
            <a:ext cx="3794760" cy="2743200"/>
          </a:xfrm>
          <a:prstGeom prst="rect">
            <a:avLst/>
          </a:prstGeom>
          <a:noFill/>
        </p:spPr>
        <p:txBody>
          <a:bodyPr wrap="square" anchor="t">
            <a:spAutoFit/>
          </a:bodyPr>
          <a:lstStyle/>
          <a:p>
            <a:pPr algn="l">
              <a:lnSpc>
                <a:spcPct val="145000"/>
              </a:lnSpc>
            </a:pPr>
            <a:r>
              <a:rPr sz="1500" b="0" i="0">
                <a:solidFill>
                  <a:srgbClr val="33475B"/>
                </a:solidFill>
                <a:latin typeface="Arial"/>
              </a:rPr>
              <a:t>· Panel A is in-sample, wins 7 of 7 — not evidence</a:t>
            </a:r>
          </a:p>
          <a:p>
            <a:pPr algn="l">
              <a:lnSpc>
                <a:spcPct val="145000"/>
              </a:lnSpc>
            </a:pPr>
            <a:r>
              <a:rPr sz="1500" b="0" i="0">
                <a:solidFill>
                  <a:srgbClr val="33475B"/>
                </a:solidFill>
                <a:latin typeface="Arial"/>
              </a:rPr>
              <a:t>· Panel B re-estimates on the three years before each window</a:t>
            </a:r>
          </a:p>
          <a:p>
            <a:pPr algn="l">
              <a:lnSpc>
                <a:spcPct val="145000"/>
              </a:lnSpc>
            </a:pPr>
            <a:r>
              <a:rPr sz="1500" b="0" i="0">
                <a:solidFill>
                  <a:srgbClr val="33475B"/>
                </a:solidFill>
                <a:latin typeface="Arial"/>
              </a:rPr>
              <a:t>· Risk Averse wins 3 of 3 crises, Neutral 1 of 3</a:t>
            </a:r>
          </a:p>
        </p:txBody>
      </p:sp>
      <p:sp>
        <p:nvSpPr>
          <p:cNvPr id="12" name="Rectangle 11"/>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Any risk number this model produces has to be presented as a lower bound.</a:t>
            </a:r>
          </a:p>
        </p:txBody>
      </p:sp>
      <p:sp>
        <p:nvSpPr>
          <p:cNvPr id="14" name="TextBox 13"/>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57839" y="182880"/>
            <a:ext cx="749808" cy="237744"/>
          </a:xfrm>
          <a:prstGeom prst="rect">
            <a:avLst/>
          </a:prstGeom>
          <a:noFill/>
        </p:spPr>
        <p:txBody>
          <a:bodyPr wrap="square" anchor="t">
            <a:spAutoFit/>
          </a:bodyPr>
          <a:lstStyle/>
          <a:p>
            <a:pPr algn="ctr">
              <a:lnSpc>
                <a:spcPct val="100000"/>
              </a:lnSpc>
            </a:pPr>
            <a:r>
              <a:rPr sz="900" b="1" i="0">
                <a:solidFill>
                  <a:srgbClr val="12283F"/>
                </a:solidFill>
                <a:latin typeface="Arial"/>
              </a:rPr>
              <a:t>VALIDATION</a:t>
            </a:r>
          </a:p>
        </p:txBody>
      </p:sp>
      <p:sp>
        <p:nvSpPr>
          <p:cNvPr id="4" name="TextBox 3"/>
          <p:cNvSpPr txBox="1"/>
          <p:nvPr/>
        </p:nvSpPr>
        <p:spPr>
          <a:xfrm>
            <a:off x="10414101"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RESULTS</a:t>
            </a:r>
          </a:p>
        </p:txBody>
      </p:sp>
      <p:sp>
        <p:nvSpPr>
          <p:cNvPr id="5" name="TextBox 4"/>
          <p:cNvSpPr txBox="1"/>
          <p:nvPr/>
        </p:nvSpPr>
        <p:spPr>
          <a:xfrm>
            <a:off x="9441180" y="182880"/>
            <a:ext cx="881481" cy="237744"/>
          </a:xfrm>
          <a:prstGeom prst="rect">
            <a:avLst/>
          </a:prstGeom>
          <a:noFill/>
        </p:spPr>
        <p:txBody>
          <a:bodyPr wrap="square" anchor="t">
            <a:spAutoFit/>
          </a:bodyPr>
          <a:lstStyle/>
          <a:p>
            <a:pPr algn="ctr">
              <a:lnSpc>
                <a:spcPct val="100000"/>
              </a:lnSpc>
            </a:pPr>
            <a:r>
              <a:rPr sz="900" b="0" i="0">
                <a:solidFill>
                  <a:srgbClr val="DDE3E8"/>
                </a:solidFill>
                <a:latin typeface="Arial"/>
              </a:rPr>
              <a:t>OPTIMISATION</a:t>
            </a:r>
          </a:p>
        </p:txBody>
      </p:sp>
      <p:sp>
        <p:nvSpPr>
          <p:cNvPr id="6" name="TextBox 5"/>
          <p:cNvSpPr txBox="1"/>
          <p:nvPr/>
        </p:nvSpPr>
        <p:spPr>
          <a:xfrm>
            <a:off x="8599932" y="182880"/>
            <a:ext cx="749808" cy="237744"/>
          </a:xfrm>
          <a:prstGeom prst="rect">
            <a:avLst/>
          </a:prstGeom>
          <a:noFill/>
        </p:spPr>
        <p:txBody>
          <a:bodyPr wrap="square" anchor="t">
            <a:spAutoFit/>
          </a:bodyPr>
          <a:lstStyle/>
          <a:p>
            <a:pPr algn="ctr">
              <a:lnSpc>
                <a:spcPct val="100000"/>
              </a:lnSpc>
            </a:pPr>
            <a:r>
              <a:rPr sz="900" b="0" i="0">
                <a:solidFill>
                  <a:srgbClr val="DDE3E8"/>
                </a:solidFill>
                <a:latin typeface="Arial"/>
              </a:rPr>
              <a:t>RISK MODEL</a:t>
            </a:r>
          </a:p>
        </p:txBody>
      </p:sp>
      <p:sp>
        <p:nvSpPr>
          <p:cNvPr id="7" name="TextBox 6"/>
          <p:cNvSpPr txBox="1"/>
          <p:nvPr/>
        </p:nvSpPr>
        <p:spPr>
          <a:xfrm>
            <a:off x="8153704" y="182880"/>
            <a:ext cx="354787" cy="237744"/>
          </a:xfrm>
          <a:prstGeom prst="rect">
            <a:avLst/>
          </a:prstGeom>
          <a:noFill/>
        </p:spPr>
        <p:txBody>
          <a:bodyPr wrap="square" anchor="t">
            <a:spAutoFit/>
          </a:bodyPr>
          <a:lstStyle/>
          <a:p>
            <a:pPr algn="ctr">
              <a:lnSpc>
                <a:spcPct val="100000"/>
              </a:lnSpc>
            </a:pPr>
            <a:r>
              <a:rPr sz="900" b="0" i="0">
                <a:solidFill>
                  <a:srgbClr val="DDE3E8"/>
                </a:solidFill>
                <a:latin typeface="Arial"/>
              </a:rPr>
              <a:t>DATA</a:t>
            </a:r>
          </a:p>
        </p:txBody>
      </p:sp>
      <p:sp>
        <p:nvSpPr>
          <p:cNvPr id="8" name="TextBox 7"/>
          <p:cNvSpPr txBox="1"/>
          <p:nvPr/>
        </p:nvSpPr>
        <p:spPr>
          <a:xfrm>
            <a:off x="7509967" y="182880"/>
            <a:ext cx="552297" cy="237744"/>
          </a:xfrm>
          <a:prstGeom prst="rect">
            <a:avLst/>
          </a:prstGeom>
          <a:noFill/>
        </p:spPr>
        <p:txBody>
          <a:bodyPr wrap="square" anchor="t">
            <a:spAutoFit/>
          </a:bodyPr>
          <a:lstStyle/>
          <a:p>
            <a:pPr algn="ctr">
              <a:lnSpc>
                <a:spcPct val="100000"/>
              </a:lnSpc>
            </a:pPr>
            <a:r>
              <a:rPr sz="900" b="0" i="0">
                <a:solidFill>
                  <a:srgbClr val="DDE3E8"/>
                </a:solidFill>
                <a:latin typeface="Arial"/>
              </a:rPr>
              <a:t>MANDATE</a:t>
            </a:r>
          </a:p>
        </p:txBody>
      </p:sp>
      <p:sp>
        <p:nvSpPr>
          <p:cNvPr id="9" name="TextBox 8"/>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Recommend on the estimate, recommend risk on the evidence</a:t>
            </a:r>
          </a:p>
        </p:txBody>
      </p:sp>
      <p:sp>
        <p:nvSpPr>
          <p:cNvPr id="10" name="Rectangle 9"/>
          <p:cNvSpPr/>
          <p:nvPr/>
        </p:nvSpPr>
        <p:spPr>
          <a:xfrm>
            <a:off x="566928" y="1353312"/>
            <a:ext cx="3401568" cy="50292"/>
          </a:xfrm>
          <a:prstGeom prst="rect">
            <a:avLst/>
          </a:prstGeom>
          <a:solidFill>
            <a:srgbClr val="1228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481328"/>
            <a:ext cx="3401568" cy="310896"/>
          </a:xfrm>
          <a:prstGeom prst="rect">
            <a:avLst/>
          </a:prstGeom>
          <a:noFill/>
        </p:spPr>
        <p:txBody>
          <a:bodyPr wrap="square" anchor="t">
            <a:spAutoFit/>
          </a:bodyPr>
          <a:lstStyle/>
          <a:p>
            <a:pPr algn="l">
              <a:lnSpc>
                <a:spcPct val="100000"/>
              </a:lnSpc>
            </a:pPr>
            <a:r>
              <a:rPr sz="1400" b="1" i="0">
                <a:solidFill>
                  <a:srgbClr val="12283F"/>
                </a:solidFill>
                <a:latin typeface="Arial"/>
              </a:rPr>
              <a:t>What we recommend</a:t>
            </a:r>
          </a:p>
        </p:txBody>
      </p:sp>
      <p:sp>
        <p:nvSpPr>
          <p:cNvPr id="12" name="TextBox 11"/>
          <p:cNvSpPr txBox="1"/>
          <p:nvPr/>
        </p:nvSpPr>
        <p:spPr>
          <a:xfrm>
            <a:off x="566928" y="1865376"/>
            <a:ext cx="3401568" cy="2286000"/>
          </a:xfrm>
          <a:prstGeom prst="rect">
            <a:avLst/>
          </a:prstGeom>
          <a:noFill/>
        </p:spPr>
        <p:txBody>
          <a:bodyPr wrap="square" anchor="t">
            <a:spAutoFit/>
          </a:bodyPr>
          <a:lstStyle/>
          <a:p>
            <a:pPr algn="l">
              <a:lnSpc>
                <a:spcPct val="132000"/>
              </a:lnSpc>
            </a:pPr>
            <a:r>
              <a:rPr sz="1200" b="0" i="0">
                <a:solidFill>
                  <a:srgbClr val="33475B"/>
                </a:solidFill>
                <a:latin typeface="Arial"/>
              </a:rPr>
              <a:t>· Neutral, point 8</a:t>
            </a:r>
          </a:p>
          <a:p>
            <a:pPr algn="l">
              <a:lnSpc>
                <a:spcPct val="132000"/>
              </a:lnSpc>
            </a:pPr>
            <a:r>
              <a:rPr sz="1200" b="0" i="0">
                <a:solidFill>
                  <a:srgbClr val="33475B"/>
                </a:solidFill>
                <a:latin typeface="Arial"/>
              </a:rPr>
              <a:t>· 14.30% return at 10.62% risk</a:t>
            </a:r>
          </a:p>
          <a:p>
            <a:pPr algn="l">
              <a:lnSpc>
                <a:spcPct val="132000"/>
              </a:lnSpc>
            </a:pPr>
            <a:r>
              <a:rPr sz="1200" b="0" i="0">
                <a:solidFill>
                  <a:srgbClr val="33475B"/>
                </a:solidFill>
                <a:latin typeface="Arial"/>
              </a:rPr>
              <a:t>· ratio 1.346, 30 holdings, ESG exactly 70.00</a:t>
            </a:r>
          </a:p>
          <a:p>
            <a:pPr algn="l">
              <a:lnSpc>
                <a:spcPct val="132000"/>
              </a:lnSpc>
            </a:pPr>
            <a:r>
              <a:rPr sz="1200" b="0" i="0">
                <a:solidFill>
                  <a:srgbClr val="33475B"/>
                </a:solidFill>
                <a:latin typeface="Arial"/>
              </a:rPr>
              <a:t>· 103% up capture against 90% down</a:t>
            </a:r>
          </a:p>
        </p:txBody>
      </p:sp>
      <p:sp>
        <p:nvSpPr>
          <p:cNvPr id="13" name="Rectangle 12"/>
          <p:cNvSpPr/>
          <p:nvPr/>
        </p:nvSpPr>
        <p:spPr>
          <a:xfrm>
            <a:off x="4224528" y="1353312"/>
            <a:ext cx="3401568" cy="50292"/>
          </a:xfrm>
          <a:prstGeom prst="rect">
            <a:avLst/>
          </a:prstGeom>
          <a:solidFill>
            <a:srgbClr val="4B7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24528" y="1481328"/>
            <a:ext cx="3401568" cy="310896"/>
          </a:xfrm>
          <a:prstGeom prst="rect">
            <a:avLst/>
          </a:prstGeom>
          <a:noFill/>
        </p:spPr>
        <p:txBody>
          <a:bodyPr wrap="square" anchor="t">
            <a:spAutoFit/>
          </a:bodyPr>
          <a:lstStyle/>
          <a:p>
            <a:pPr algn="l">
              <a:lnSpc>
                <a:spcPct val="100000"/>
              </a:lnSpc>
            </a:pPr>
            <a:r>
              <a:rPr sz="1400" b="1" i="0">
                <a:solidFill>
                  <a:srgbClr val="4B7F52"/>
                </a:solidFill>
                <a:latin typeface="Arial"/>
              </a:rPr>
              <a:t>What we can demonstrate</a:t>
            </a:r>
          </a:p>
        </p:txBody>
      </p:sp>
      <p:sp>
        <p:nvSpPr>
          <p:cNvPr id="15" name="TextBox 14"/>
          <p:cNvSpPr txBox="1"/>
          <p:nvPr/>
        </p:nvSpPr>
        <p:spPr>
          <a:xfrm>
            <a:off x="4224528" y="1865376"/>
            <a:ext cx="3401568" cy="2286000"/>
          </a:xfrm>
          <a:prstGeom prst="rect">
            <a:avLst/>
          </a:prstGeom>
          <a:noFill/>
        </p:spPr>
        <p:txBody>
          <a:bodyPr wrap="square" anchor="t">
            <a:spAutoFit/>
          </a:bodyPr>
          <a:lstStyle/>
          <a:p>
            <a:pPr algn="l">
              <a:lnSpc>
                <a:spcPct val="132000"/>
              </a:lnSpc>
            </a:pPr>
            <a:r>
              <a:rPr sz="1200" b="0" i="0">
                <a:solidFill>
                  <a:srgbClr val="33475B"/>
                </a:solidFill>
                <a:latin typeface="Arial"/>
              </a:rPr>
              <a:t>· Volatility 13.20% vs 16.91% — a 21.9% cut</a:t>
            </a:r>
          </a:p>
          <a:p>
            <a:pPr algn="l">
              <a:lnSpc>
                <a:spcPct val="132000"/>
              </a:lnSpc>
            </a:pPr>
            <a:r>
              <a:rPr sz="1200" b="0" i="0">
                <a:solidFill>
                  <a:srgbClr val="33475B"/>
                </a:solidFill>
                <a:latin typeface="Arial"/>
              </a:rPr>
              <a:t>· Lower in 5 of 6 sub-periods</a:t>
            </a:r>
          </a:p>
          <a:p>
            <a:pPr algn="l">
              <a:lnSpc>
                <a:spcPct val="132000"/>
              </a:lnSpc>
            </a:pPr>
            <a:r>
              <a:rPr sz="1200" b="0" i="0">
                <a:solidFill>
                  <a:srgbClr val="33475B"/>
                </a:solidFill>
                <a:latin typeface="Arial"/>
              </a:rPr>
              <a:t>· Drawdown −33.81% vs −37.68%</a:t>
            </a:r>
          </a:p>
          <a:p>
            <a:pPr algn="l">
              <a:lnSpc>
                <a:spcPct val="132000"/>
              </a:lnSpc>
            </a:pPr>
            <a:r>
              <a:rPr sz="1200" b="0" i="0">
                <a:solidFill>
                  <a:srgbClr val="33475B"/>
                </a:solidFill>
                <a:latin typeface="Arial"/>
              </a:rPr>
              <a:t>· Beats 1/N in all three crisis windows</a:t>
            </a:r>
          </a:p>
          <a:p>
            <a:pPr algn="l">
              <a:lnSpc>
                <a:spcPct val="132000"/>
              </a:lnSpc>
            </a:pPr>
            <a:r>
              <a:rPr sz="1200" b="0" i="0">
                <a:solidFill>
                  <a:srgbClr val="33475B"/>
                </a:solidFill>
                <a:latin typeface="Arial"/>
              </a:rPr>
              <a:t>· — all at the minimum-variance end</a:t>
            </a:r>
          </a:p>
        </p:txBody>
      </p:sp>
      <p:sp>
        <p:nvSpPr>
          <p:cNvPr id="16" name="Rectangle 15"/>
          <p:cNvSpPr/>
          <p:nvPr/>
        </p:nvSpPr>
        <p:spPr>
          <a:xfrm>
            <a:off x="7882128" y="1353312"/>
            <a:ext cx="3401568" cy="50292"/>
          </a:xfrm>
          <a:prstGeom prst="rect">
            <a:avLst/>
          </a:prstGeom>
          <a:solidFill>
            <a:srgbClr val="A6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82128" y="1481328"/>
            <a:ext cx="3401568" cy="310896"/>
          </a:xfrm>
          <a:prstGeom prst="rect">
            <a:avLst/>
          </a:prstGeom>
          <a:noFill/>
        </p:spPr>
        <p:txBody>
          <a:bodyPr wrap="square" anchor="t">
            <a:spAutoFit/>
          </a:bodyPr>
          <a:lstStyle/>
          <a:p>
            <a:pPr algn="l">
              <a:lnSpc>
                <a:spcPct val="100000"/>
              </a:lnSpc>
            </a:pPr>
            <a:r>
              <a:rPr sz="1400" b="1" i="0">
                <a:solidFill>
                  <a:srgbClr val="A63A2E"/>
                </a:solidFill>
                <a:latin typeface="Arial"/>
              </a:rPr>
              <a:t>What we cannot claim</a:t>
            </a:r>
          </a:p>
        </p:txBody>
      </p:sp>
      <p:sp>
        <p:nvSpPr>
          <p:cNvPr id="18" name="TextBox 17"/>
          <p:cNvSpPr txBox="1"/>
          <p:nvPr/>
        </p:nvSpPr>
        <p:spPr>
          <a:xfrm>
            <a:off x="7882128" y="1865376"/>
            <a:ext cx="3401568" cy="2286000"/>
          </a:xfrm>
          <a:prstGeom prst="rect">
            <a:avLst/>
          </a:prstGeom>
          <a:noFill/>
        </p:spPr>
        <p:txBody>
          <a:bodyPr wrap="square" anchor="t">
            <a:spAutoFit/>
          </a:bodyPr>
          <a:lstStyle/>
          <a:p>
            <a:pPr algn="l">
              <a:lnSpc>
                <a:spcPct val="132000"/>
              </a:lnSpc>
            </a:pPr>
            <a:r>
              <a:rPr sz="1200" b="0" i="0">
                <a:solidFill>
                  <a:srgbClr val="33475B"/>
                </a:solidFill>
                <a:latin typeface="Arial"/>
              </a:rPr>
              <a:t>· A statistically significant risk-adjusted edge</a:t>
            </a:r>
          </a:p>
          <a:p>
            <a:pPr algn="l">
              <a:lnSpc>
                <a:spcPct val="132000"/>
              </a:lnSpc>
            </a:pPr>
            <a:r>
              <a:rPr sz="1200" b="0" i="0">
                <a:solidFill>
                  <a:srgbClr val="33475B"/>
                </a:solidFill>
                <a:latin typeface="Arial"/>
              </a:rPr>
              <a:t>· Every Jobson-Korkie z inside ±1.96</a:t>
            </a:r>
          </a:p>
          <a:p>
            <a:pPr algn="l">
              <a:lnSpc>
                <a:spcPct val="132000"/>
              </a:lnSpc>
            </a:pPr>
            <a:r>
              <a:rPr sz="1200" b="0" i="0">
                <a:solidFill>
                  <a:srgbClr val="33475B"/>
                </a:solidFill>
                <a:latin typeface="Arial"/>
              </a:rPr>
              <a:t>· Over 7.7 years and 31 rebalances</a:t>
            </a:r>
          </a:p>
          <a:p>
            <a:pPr algn="l">
              <a:lnSpc>
                <a:spcPct val="132000"/>
              </a:lnSpc>
            </a:pPr>
            <a:r>
              <a:rPr sz="1200" b="0" i="0">
                <a:solidFill>
                  <a:srgbClr val="33475B"/>
                </a:solidFill>
                <a:latin typeface="Arial"/>
              </a:rPr>
              <a:t>· In either direction</a:t>
            </a:r>
          </a:p>
        </p:txBody>
      </p:sp>
      <p:sp>
        <p:nvSpPr>
          <p:cNvPr id="19" name="TextBox 18"/>
          <p:cNvSpPr txBox="1"/>
          <p:nvPr/>
        </p:nvSpPr>
        <p:spPr>
          <a:xfrm>
            <a:off x="566928" y="4233672"/>
            <a:ext cx="10881360" cy="777240"/>
          </a:xfrm>
          <a:prstGeom prst="rect">
            <a:avLst/>
          </a:prstGeom>
          <a:noFill/>
        </p:spPr>
        <p:txBody>
          <a:bodyPr wrap="square" anchor="t">
            <a:spAutoFit/>
          </a:bodyPr>
          <a:lstStyle/>
          <a:p>
            <a:pPr algn="l">
              <a:lnSpc>
                <a:spcPct val="128000"/>
              </a:lnSpc>
            </a:pPr>
            <a:r>
              <a:rPr sz="1150" b="0" i="0">
                <a:solidFill>
                  <a:srgbClr val="7C8B99"/>
                </a:solidFill>
                <a:latin typeface="Arial"/>
              </a:rPr>
              <a:t>· ESG scores and sectors are a single present-day snapshot — a 2018 rebalance uses 2025 information</a:t>
            </a:r>
          </a:p>
          <a:p>
            <a:pPr algn="l">
              <a:lnSpc>
                <a:spcPct val="128000"/>
              </a:lnSpc>
            </a:pPr>
            <a:r>
              <a:rPr sz="1150" b="0" i="0">
                <a:solidFill>
                  <a:srgbClr val="7C8B99"/>
                </a:solidFill>
                <a:latin typeface="Arial"/>
              </a:rPr>
              <a:t>· The universe is today's index constituents, so every strategy including the benchmark looks optimistic</a:t>
            </a:r>
          </a:p>
          <a:p>
            <a:pPr algn="l">
              <a:lnSpc>
                <a:spcPct val="128000"/>
              </a:lnSpc>
            </a:pPr>
            <a:r>
              <a:rPr sz="1150" b="0" i="0">
                <a:solidFill>
                  <a:srgbClr val="7C8B99"/>
                </a:solidFill>
                <a:latin typeface="Arial"/>
              </a:rPr>
              <a:t>· Transaction costs are measured but not priced inside the optimiser</a:t>
            </a:r>
          </a:p>
        </p:txBody>
      </p:sp>
      <p:sp>
        <p:nvSpPr>
          <p:cNvPr id="20" name="Rectangle 19"/>
          <p:cNvSpPr/>
          <p:nvPr/>
        </p:nvSpPr>
        <p:spPr>
          <a:xfrm>
            <a:off x="0" y="6355080"/>
            <a:ext cx="12191695" cy="502920"/>
          </a:xfrm>
          <a:prstGeom prst="rect">
            <a:avLst/>
          </a:prstGeom>
          <a:solidFill>
            <a:srgbClr val="F1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6400800"/>
            <a:ext cx="10241280" cy="411480"/>
          </a:xfrm>
          <a:prstGeom prst="rect">
            <a:avLst/>
          </a:prstGeom>
          <a:noFill/>
        </p:spPr>
        <p:txBody>
          <a:bodyPr wrap="square" anchor="ctr">
            <a:spAutoFit/>
          </a:bodyPr>
          <a:lstStyle/>
          <a:p>
            <a:pPr algn="l">
              <a:lnSpc>
                <a:spcPct val="100000"/>
              </a:lnSpc>
            </a:pPr>
            <a:r>
              <a:rPr sz="1400" b="0" i="1">
                <a:solidFill>
                  <a:srgbClr val="33475B"/>
                </a:solidFill>
                <a:latin typeface="Arial"/>
              </a:rPr>
              <a:t>The defensible claim is about risk, not return — and stating that is stronger than a Sharpe ratio that fails a t-test.</a:t>
            </a:r>
          </a:p>
        </p:txBody>
      </p:sp>
      <p:sp>
        <p:nvSpPr>
          <p:cNvPr id="22" name="TextBox 21"/>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88920"/>
            <a:ext cx="7315200" cy="822960"/>
          </a:xfrm>
          <a:prstGeom prst="rect">
            <a:avLst/>
          </a:prstGeom>
          <a:noFill/>
        </p:spPr>
        <p:txBody>
          <a:bodyPr wrap="square" anchor="t">
            <a:spAutoFit/>
          </a:bodyPr>
          <a:lstStyle/>
          <a:p>
            <a:pPr algn="l">
              <a:lnSpc>
                <a:spcPct val="100000"/>
              </a:lnSpc>
            </a:pPr>
            <a:r>
              <a:rPr sz="4400" b="1" i="0">
                <a:solidFill>
                  <a:srgbClr val="12283F"/>
                </a:solidFill>
                <a:latin typeface="Arial"/>
              </a:rPr>
              <a:t>Backup</a:t>
            </a:r>
          </a:p>
        </p:txBody>
      </p:sp>
      <p:sp>
        <p:nvSpPr>
          <p:cNvPr id="4" name="TextBox 3"/>
          <p:cNvSpPr txBox="1"/>
          <p:nvPr/>
        </p:nvSpPr>
        <p:spPr>
          <a:xfrm>
            <a:off x="777240" y="3657600"/>
            <a:ext cx="7315200" cy="365760"/>
          </a:xfrm>
          <a:prstGeom prst="rect">
            <a:avLst/>
          </a:prstGeom>
          <a:noFill/>
        </p:spPr>
        <p:txBody>
          <a:bodyPr wrap="square" anchor="t">
            <a:spAutoFit/>
          </a:bodyPr>
          <a:lstStyle/>
          <a:p>
            <a:pPr algn="l">
              <a:lnSpc>
                <a:spcPct val="100000"/>
              </a:lnSpc>
            </a:pPr>
            <a:r>
              <a:rPr sz="1500" b="0" i="0">
                <a:solidFill>
                  <a:srgbClr val="7C8B99"/>
                </a:solidFill>
                <a:latin typeface="Arial"/>
              </a:rPr>
              <a:t>Detail held back for questions</a:t>
            </a:r>
          </a:p>
        </p:txBody>
      </p:sp>
      <p:sp>
        <p:nvSpPr>
          <p:cNvPr id="5" name="TextBox 4"/>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Factor selection, the full table</a:t>
            </a:r>
          </a:p>
        </p:txBody>
      </p:sp>
      <p:graphicFrame>
        <p:nvGraphicFramePr>
          <p:cNvPr id="4" name="Table 3"/>
          <p:cNvGraphicFramePr>
            <a:graphicFrameLocks noGrp="1"/>
          </p:cNvGraphicFramePr>
          <p:nvPr/>
        </p:nvGraphicFramePr>
        <p:xfrm>
          <a:off x="640080" y="1353312"/>
          <a:ext cx="10881359" cy="2487168"/>
        </p:xfrm>
        <a:graphic>
          <a:graphicData uri="http://schemas.openxmlformats.org/drawingml/2006/table">
            <a:tbl>
              <a:tblPr firstRow="1" bandRow="1">
                <a:tableStyleId>{5C22544A-7EE6-4342-B048-85BDC9FD1C3A}</a:tableStyleId>
              </a:tblPr>
              <a:tblGrid>
                <a:gridCol w="1395046"/>
                <a:gridCol w="3348110"/>
                <a:gridCol w="2511083"/>
                <a:gridCol w="3627120"/>
              </a:tblGrid>
              <a:tr h="310896">
                <a:tc>
                  <a:txBody>
                    <a:bodyPr/>
                    <a:lstStyle/>
                    <a:p>
                      <a:r>
                        <a:rPr sz="1100" b="1">
                          <a:solidFill>
                            <a:srgbClr val="12283F"/>
                          </a:solidFill>
                          <a:latin typeface="Arial"/>
                        </a:rPr>
                        <a:t>k</a:t>
                      </a:r>
                    </a:p>
                  </a:txBody>
                  <a:tcPr>
                    <a:solidFill>
                      <a:srgbClr val="FBFAF7"/>
                    </a:solidFill>
                  </a:tcPr>
                </a:tc>
                <a:tc>
                  <a:txBody>
                    <a:bodyPr/>
                    <a:lstStyle/>
                    <a:p>
                      <a:r>
                        <a:rPr sz="1100" b="1">
                          <a:solidFill>
                            <a:srgbClr val="12283F"/>
                          </a:solidFill>
                          <a:latin typeface="Arial"/>
                        </a:rPr>
                        <a:t>Variance explained</a:t>
                      </a:r>
                    </a:p>
                  </a:txBody>
                  <a:tcPr>
                    <a:solidFill>
                      <a:srgbClr val="FBFAF7"/>
                    </a:solidFill>
                  </a:tcPr>
                </a:tc>
                <a:tc>
                  <a:txBody>
                    <a:bodyPr/>
                    <a:lstStyle/>
                    <a:p>
                      <a:r>
                        <a:rPr sz="1100" b="1">
                          <a:solidFill>
                            <a:srgbClr val="12283F"/>
                          </a:solidFill>
                          <a:latin typeface="Arial"/>
                        </a:rPr>
                        <a:t>Median R²</a:t>
                      </a:r>
                    </a:p>
                  </a:txBody>
                  <a:tcPr>
                    <a:solidFill>
                      <a:srgbClr val="FBFAF7"/>
                    </a:solidFill>
                  </a:tcPr>
                </a:tc>
                <a:tc>
                  <a:txBody>
                    <a:bodyPr/>
                    <a:lstStyle/>
                    <a:p>
                      <a:r>
                        <a:rPr sz="1100" b="1">
                          <a:solidFill>
                            <a:srgbClr val="12283F"/>
                          </a:solidFill>
                          <a:latin typeface="Arial"/>
                        </a:rPr>
                        <a:t>Risk error at min-risk</a:t>
                      </a:r>
                    </a:p>
                  </a:txBody>
                  <a:tcPr>
                    <a:solidFill>
                      <a:srgbClr val="FBFAF7"/>
                    </a:solidFill>
                  </a:tcPr>
                </a:tc>
              </a:tr>
              <a:tr h="310896">
                <a:tc>
                  <a:txBody>
                    <a:bodyPr/>
                    <a:lstStyle/>
                    <a:p>
                      <a:r>
                        <a:rPr sz="1100" b="0">
                          <a:solidFill>
                            <a:srgbClr val="33475B"/>
                          </a:solidFill>
                          <a:latin typeface="Arial"/>
                        </a:rPr>
                        <a:t>1</a:t>
                      </a:r>
                    </a:p>
                  </a:txBody>
                  <a:tcPr>
                    <a:solidFill>
                      <a:srgbClr val="FBFAF7"/>
                    </a:solidFill>
                  </a:tcPr>
                </a:tc>
                <a:tc>
                  <a:txBody>
                    <a:bodyPr/>
                    <a:lstStyle/>
                    <a:p>
                      <a:r>
                        <a:rPr sz="1100" b="0">
                          <a:solidFill>
                            <a:srgbClr val="33475B"/>
                          </a:solidFill>
                          <a:latin typeface="Arial"/>
                        </a:rPr>
                        <a:t>27.8%</a:t>
                      </a:r>
                    </a:p>
                  </a:txBody>
                  <a:tcPr>
                    <a:solidFill>
                      <a:srgbClr val="FBFAF7"/>
                    </a:solidFill>
                  </a:tcPr>
                </a:tc>
                <a:tc>
                  <a:txBody>
                    <a:bodyPr/>
                    <a:lstStyle/>
                    <a:p>
                      <a:r>
                        <a:rPr sz="1100" b="0">
                          <a:solidFill>
                            <a:srgbClr val="33475B"/>
                          </a:solidFill>
                          <a:latin typeface="Arial"/>
                        </a:rPr>
                        <a:t>0.273</a:t>
                      </a:r>
                    </a:p>
                  </a:txBody>
                  <a:tcPr>
                    <a:solidFill>
                      <a:srgbClr val="FBFAF7"/>
                    </a:solidFill>
                  </a:tcPr>
                </a:tc>
                <a:tc>
                  <a:txBody>
                    <a:bodyPr/>
                    <a:lstStyle/>
                    <a:p>
                      <a:r>
                        <a:rPr sz="1100" b="0">
                          <a:solidFill>
                            <a:srgbClr val="33475B"/>
                          </a:solidFill>
                          <a:latin typeface="Arial"/>
                        </a:rPr>
                        <a:t>-38.34%</a:t>
                      </a:r>
                    </a:p>
                  </a:txBody>
                  <a:tcPr>
                    <a:solidFill>
                      <a:srgbClr val="FBFAF7"/>
                    </a:solidFill>
                  </a:tcPr>
                </a:tc>
              </a:tr>
              <a:tr h="310896">
                <a:tc>
                  <a:txBody>
                    <a:bodyPr/>
                    <a:lstStyle/>
                    <a:p>
                      <a:r>
                        <a:rPr sz="1100" b="0">
                          <a:solidFill>
                            <a:srgbClr val="33475B"/>
                          </a:solidFill>
                          <a:latin typeface="Arial"/>
                        </a:rPr>
                        <a:t>2</a:t>
                      </a:r>
                    </a:p>
                  </a:txBody>
                  <a:tcPr>
                    <a:solidFill>
                      <a:srgbClr val="FBFAF7"/>
                    </a:solidFill>
                  </a:tcPr>
                </a:tc>
                <a:tc>
                  <a:txBody>
                    <a:bodyPr/>
                    <a:lstStyle/>
                    <a:p>
                      <a:r>
                        <a:rPr sz="1100" b="0">
                          <a:solidFill>
                            <a:srgbClr val="33475B"/>
                          </a:solidFill>
                          <a:latin typeface="Arial"/>
                        </a:rPr>
                        <a:t>35.4%</a:t>
                      </a:r>
                    </a:p>
                  </a:txBody>
                  <a:tcPr>
                    <a:solidFill>
                      <a:srgbClr val="FBFAF7"/>
                    </a:solidFill>
                  </a:tcPr>
                </a:tc>
                <a:tc>
                  <a:txBody>
                    <a:bodyPr/>
                    <a:lstStyle/>
                    <a:p>
                      <a:r>
                        <a:rPr sz="1100" b="0">
                          <a:solidFill>
                            <a:srgbClr val="33475B"/>
                          </a:solidFill>
                          <a:latin typeface="Arial"/>
                        </a:rPr>
                        <a:t>0.355</a:t>
                      </a:r>
                    </a:p>
                  </a:txBody>
                  <a:tcPr>
                    <a:solidFill>
                      <a:srgbClr val="FBFAF7"/>
                    </a:solidFill>
                  </a:tcPr>
                </a:tc>
                <a:tc>
                  <a:txBody>
                    <a:bodyPr/>
                    <a:lstStyle/>
                    <a:p>
                      <a:r>
                        <a:rPr sz="1100" b="0">
                          <a:solidFill>
                            <a:srgbClr val="33475B"/>
                          </a:solidFill>
                          <a:latin typeface="Arial"/>
                        </a:rPr>
                        <a:t>-37.55%</a:t>
                      </a:r>
                    </a:p>
                  </a:txBody>
                  <a:tcPr>
                    <a:solidFill>
                      <a:srgbClr val="FBFAF7"/>
                    </a:solidFill>
                  </a:tcPr>
                </a:tc>
              </a:tr>
              <a:tr h="310896">
                <a:tc>
                  <a:txBody>
                    <a:bodyPr/>
                    <a:lstStyle/>
                    <a:p>
                      <a:r>
                        <a:rPr sz="1100" b="0">
                          <a:solidFill>
                            <a:srgbClr val="33475B"/>
                          </a:solidFill>
                          <a:latin typeface="Arial"/>
                        </a:rPr>
                        <a:t>5</a:t>
                      </a:r>
                    </a:p>
                  </a:txBody>
                  <a:tcPr>
                    <a:solidFill>
                      <a:srgbClr val="FBFAF7"/>
                    </a:solidFill>
                  </a:tcPr>
                </a:tc>
                <a:tc>
                  <a:txBody>
                    <a:bodyPr/>
                    <a:lstStyle/>
                    <a:p>
                      <a:r>
                        <a:rPr sz="1100" b="0">
                          <a:solidFill>
                            <a:srgbClr val="33475B"/>
                          </a:solidFill>
                          <a:latin typeface="Arial"/>
                        </a:rPr>
                        <a:t>42.8%</a:t>
                      </a:r>
                    </a:p>
                  </a:txBody>
                  <a:tcPr>
                    <a:solidFill>
                      <a:srgbClr val="FBFAF7"/>
                    </a:solidFill>
                  </a:tcPr>
                </a:tc>
                <a:tc>
                  <a:txBody>
                    <a:bodyPr/>
                    <a:lstStyle/>
                    <a:p>
                      <a:r>
                        <a:rPr sz="1100" b="0">
                          <a:solidFill>
                            <a:srgbClr val="33475B"/>
                          </a:solidFill>
                          <a:latin typeface="Arial"/>
                        </a:rPr>
                        <a:t>0.436</a:t>
                      </a:r>
                    </a:p>
                  </a:txBody>
                  <a:tcPr>
                    <a:solidFill>
                      <a:srgbClr val="FBFAF7"/>
                    </a:solidFill>
                  </a:tcPr>
                </a:tc>
                <a:tc>
                  <a:txBody>
                    <a:bodyPr/>
                    <a:lstStyle/>
                    <a:p>
                      <a:r>
                        <a:rPr sz="1100" b="0">
                          <a:solidFill>
                            <a:srgbClr val="33475B"/>
                          </a:solidFill>
                          <a:latin typeface="Arial"/>
                        </a:rPr>
                        <a:t>+0.31%</a:t>
                      </a:r>
                    </a:p>
                  </a:txBody>
                  <a:tcPr>
                    <a:solidFill>
                      <a:srgbClr val="FBFAF7"/>
                    </a:solidFill>
                  </a:tcPr>
                </a:tc>
              </a:tr>
              <a:tr h="310896">
                <a:tc>
                  <a:txBody>
                    <a:bodyPr/>
                    <a:lstStyle/>
                    <a:p>
                      <a:r>
                        <a:rPr sz="1100" b="0">
                          <a:solidFill>
                            <a:srgbClr val="33475B"/>
                          </a:solidFill>
                          <a:latin typeface="Arial"/>
                        </a:rPr>
                        <a:t>10</a:t>
                      </a:r>
                    </a:p>
                  </a:txBody>
                  <a:tcPr>
                    <a:solidFill>
                      <a:srgbClr val="FBFAF7"/>
                    </a:solidFill>
                  </a:tcPr>
                </a:tc>
                <a:tc>
                  <a:txBody>
                    <a:bodyPr/>
                    <a:lstStyle/>
                    <a:p>
                      <a:r>
                        <a:rPr sz="1100" b="0">
                          <a:solidFill>
                            <a:srgbClr val="33475B"/>
                          </a:solidFill>
                          <a:latin typeface="Arial"/>
                        </a:rPr>
                        <a:t>47.5%</a:t>
                      </a:r>
                    </a:p>
                  </a:txBody>
                  <a:tcPr>
                    <a:solidFill>
                      <a:srgbClr val="FBFAF7"/>
                    </a:solidFill>
                  </a:tcPr>
                </a:tc>
                <a:tc>
                  <a:txBody>
                    <a:bodyPr/>
                    <a:lstStyle/>
                    <a:p>
                      <a:r>
                        <a:rPr sz="1100" b="0">
                          <a:solidFill>
                            <a:srgbClr val="33475B"/>
                          </a:solidFill>
                          <a:latin typeface="Arial"/>
                        </a:rPr>
                        <a:t>0.469</a:t>
                      </a:r>
                    </a:p>
                  </a:txBody>
                  <a:tcPr>
                    <a:solidFill>
                      <a:srgbClr val="FBFAF7"/>
                    </a:solidFill>
                  </a:tcPr>
                </a:tc>
                <a:tc>
                  <a:txBody>
                    <a:bodyPr/>
                    <a:lstStyle/>
                    <a:p>
                      <a:r>
                        <a:rPr sz="1100" b="0">
                          <a:solidFill>
                            <a:srgbClr val="33475B"/>
                          </a:solidFill>
                          <a:latin typeface="Arial"/>
                        </a:rPr>
                        <a:t>-1.56%</a:t>
                      </a:r>
                    </a:p>
                  </a:txBody>
                  <a:tcPr>
                    <a:solidFill>
                      <a:srgbClr val="FBFAF7"/>
                    </a:solidFill>
                  </a:tcPr>
                </a:tc>
              </a:tr>
              <a:tr h="310896">
                <a:tc>
                  <a:txBody>
                    <a:bodyPr/>
                    <a:lstStyle/>
                    <a:p>
                      <a:r>
                        <a:rPr sz="1100" b="1">
                          <a:solidFill>
                            <a:srgbClr val="12283F"/>
                          </a:solidFill>
                          <a:latin typeface="Arial"/>
                        </a:rPr>
                        <a:t>20</a:t>
                      </a:r>
                    </a:p>
                  </a:txBody>
                  <a:tcPr>
                    <a:solidFill>
                      <a:srgbClr val="EDF0F3"/>
                    </a:solidFill>
                  </a:tcPr>
                </a:tc>
                <a:tc>
                  <a:txBody>
                    <a:bodyPr/>
                    <a:lstStyle/>
                    <a:p>
                      <a:r>
                        <a:rPr sz="1100" b="1">
                          <a:solidFill>
                            <a:srgbClr val="12283F"/>
                          </a:solidFill>
                          <a:latin typeface="Arial"/>
                        </a:rPr>
                        <a:t>52.9%</a:t>
                      </a:r>
                    </a:p>
                  </a:txBody>
                  <a:tcPr>
                    <a:solidFill>
                      <a:srgbClr val="EDF0F3"/>
                    </a:solidFill>
                  </a:tcPr>
                </a:tc>
                <a:tc>
                  <a:txBody>
                    <a:bodyPr/>
                    <a:lstStyle/>
                    <a:p>
                      <a:r>
                        <a:rPr sz="1100" b="1">
                          <a:solidFill>
                            <a:srgbClr val="12283F"/>
                          </a:solidFill>
                          <a:latin typeface="Arial"/>
                        </a:rPr>
                        <a:t>0.518</a:t>
                      </a:r>
                    </a:p>
                  </a:txBody>
                  <a:tcPr>
                    <a:solidFill>
                      <a:srgbClr val="EDF0F3"/>
                    </a:solidFill>
                  </a:tcPr>
                </a:tc>
                <a:tc>
                  <a:txBody>
                    <a:bodyPr/>
                    <a:lstStyle/>
                    <a:p>
                      <a:r>
                        <a:rPr sz="1100" b="1">
                          <a:solidFill>
                            <a:srgbClr val="12283F"/>
                          </a:solidFill>
                          <a:latin typeface="Arial"/>
                        </a:rPr>
                        <a:t>+1.86%</a:t>
                      </a:r>
                    </a:p>
                  </a:txBody>
                  <a:tcPr>
                    <a:solidFill>
                      <a:srgbClr val="EDF0F3"/>
                    </a:solidFill>
                  </a:tcPr>
                </a:tc>
              </a:tr>
              <a:tr h="310896">
                <a:tc>
                  <a:txBody>
                    <a:bodyPr/>
                    <a:lstStyle/>
                    <a:p>
                      <a:r>
                        <a:rPr sz="1100" b="0">
                          <a:solidFill>
                            <a:srgbClr val="33475B"/>
                          </a:solidFill>
                          <a:latin typeface="Arial"/>
                        </a:rPr>
                        <a:t>30</a:t>
                      </a:r>
                    </a:p>
                  </a:txBody>
                  <a:tcPr>
                    <a:solidFill>
                      <a:srgbClr val="FBFAF7"/>
                    </a:solidFill>
                  </a:tcPr>
                </a:tc>
                <a:tc>
                  <a:txBody>
                    <a:bodyPr/>
                    <a:lstStyle/>
                    <a:p>
                      <a:r>
                        <a:rPr sz="1100" b="0">
                          <a:solidFill>
                            <a:srgbClr val="33475B"/>
                          </a:solidFill>
                          <a:latin typeface="Arial"/>
                        </a:rPr>
                        <a:t>56.4%</a:t>
                      </a:r>
                    </a:p>
                  </a:txBody>
                  <a:tcPr>
                    <a:solidFill>
                      <a:srgbClr val="FBFAF7"/>
                    </a:solidFill>
                  </a:tcPr>
                </a:tc>
                <a:tc>
                  <a:txBody>
                    <a:bodyPr/>
                    <a:lstStyle/>
                    <a:p>
                      <a:r>
                        <a:rPr sz="1100" b="0">
                          <a:solidFill>
                            <a:srgbClr val="33475B"/>
                          </a:solidFill>
                          <a:latin typeface="Arial"/>
                        </a:rPr>
                        <a:t>0.547</a:t>
                      </a:r>
                    </a:p>
                  </a:txBody>
                  <a:tcPr>
                    <a:solidFill>
                      <a:srgbClr val="FBFAF7"/>
                    </a:solidFill>
                  </a:tcPr>
                </a:tc>
                <a:tc>
                  <a:txBody>
                    <a:bodyPr/>
                    <a:lstStyle/>
                    <a:p>
                      <a:r>
                        <a:rPr sz="1100" b="0">
                          <a:solidFill>
                            <a:srgbClr val="33475B"/>
                          </a:solidFill>
                          <a:latin typeface="Arial"/>
                        </a:rPr>
                        <a:t>+3.06%</a:t>
                      </a:r>
                    </a:p>
                  </a:txBody>
                  <a:tcPr>
                    <a:solidFill>
                      <a:srgbClr val="FBFAF7"/>
                    </a:solidFill>
                  </a:tcPr>
                </a:tc>
              </a:tr>
              <a:tr h="310896">
                <a:tc>
                  <a:txBody>
                    <a:bodyPr/>
                    <a:lstStyle/>
                    <a:p>
                      <a:r>
                        <a:rPr sz="1100" b="0">
                          <a:solidFill>
                            <a:srgbClr val="33475B"/>
                          </a:solidFill>
                          <a:latin typeface="Arial"/>
                        </a:rPr>
                        <a:t>50</a:t>
                      </a:r>
                    </a:p>
                  </a:txBody>
                  <a:tcPr>
                    <a:solidFill>
                      <a:srgbClr val="FBFAF7"/>
                    </a:solidFill>
                  </a:tcPr>
                </a:tc>
                <a:tc>
                  <a:txBody>
                    <a:bodyPr/>
                    <a:lstStyle/>
                    <a:p>
                      <a:r>
                        <a:rPr sz="1100" b="0">
                          <a:solidFill>
                            <a:srgbClr val="33475B"/>
                          </a:solidFill>
                          <a:latin typeface="Arial"/>
                        </a:rPr>
                        <a:t>61.4%</a:t>
                      </a:r>
                    </a:p>
                  </a:txBody>
                  <a:tcPr>
                    <a:solidFill>
                      <a:srgbClr val="FBFAF7"/>
                    </a:solidFill>
                  </a:tcPr>
                </a:tc>
                <a:tc>
                  <a:txBody>
                    <a:bodyPr/>
                    <a:lstStyle/>
                    <a:p>
                      <a:r>
                        <a:rPr sz="1100" b="0">
                          <a:solidFill>
                            <a:srgbClr val="33475B"/>
                          </a:solidFill>
                          <a:latin typeface="Arial"/>
                        </a:rPr>
                        <a:t>0.586</a:t>
                      </a:r>
                    </a:p>
                  </a:txBody>
                  <a:tcPr>
                    <a:solidFill>
                      <a:srgbClr val="FBFAF7"/>
                    </a:solidFill>
                  </a:tcPr>
                </a:tc>
                <a:tc>
                  <a:txBody>
                    <a:bodyPr/>
                    <a:lstStyle/>
                    <a:p>
                      <a:r>
                        <a:rPr sz="1100" b="0">
                          <a:solidFill>
                            <a:srgbClr val="33475B"/>
                          </a:solidFill>
                          <a:latin typeface="Arial"/>
                        </a:rPr>
                        <a:t>+5.90%</a:t>
                      </a:r>
                    </a:p>
                  </a:txBody>
                  <a:tcPr>
                    <a:solidFill>
                      <a:srgbClr val="FBFAF7"/>
                    </a:solidFill>
                  </a:tcPr>
                </a:tc>
              </a:tr>
            </a:tbl>
          </a:graphicData>
        </a:graphic>
      </p:graphicFrame>
      <p:sp>
        <p:nvSpPr>
          <p:cNvPr id="5" name="TextBox 4"/>
          <p:cNvSpPr txBox="1"/>
          <p:nvPr/>
        </p:nvSpPr>
        <p:spPr>
          <a:xfrm>
            <a:off x="566928" y="3950208"/>
            <a:ext cx="10881360" cy="822960"/>
          </a:xfrm>
          <a:prstGeom prst="rect">
            <a:avLst/>
          </a:prstGeom>
          <a:noFill/>
        </p:spPr>
        <p:txBody>
          <a:bodyPr wrap="square" anchor="t">
            <a:spAutoFit/>
          </a:bodyPr>
          <a:lstStyle/>
          <a:p>
            <a:pPr algn="l">
              <a:lnSpc>
                <a:spcPct val="135000"/>
              </a:lnSpc>
            </a:pPr>
            <a:r>
              <a:rPr sz="1400" b="0" i="0">
                <a:solidFill>
                  <a:srgbClr val="33475B"/>
                </a:solidFill>
                <a:latin typeface="Arial"/>
              </a:rPr>
              <a:t>· Negative means the model understates portfolio risk</a:t>
            </a:r>
          </a:p>
          <a:p>
            <a:pPr algn="l">
              <a:lnSpc>
                <a:spcPct val="135000"/>
              </a:lnSpc>
            </a:pPr>
            <a:r>
              <a:rPr sz="1400" b="0" i="0">
                <a:solidFill>
                  <a:srgbClr val="33475B"/>
                </a:solidFill>
                <a:latin typeface="Arial"/>
              </a:rPr>
              <a:t>· k = 20 is the chosen row</a:t>
            </a:r>
          </a:p>
          <a:p>
            <a:pPr algn="l">
              <a:lnSpc>
                <a:spcPct val="135000"/>
              </a:lnSpc>
            </a:pPr>
            <a:r>
              <a:rPr sz="1400" b="0" i="0">
                <a:solidFill>
                  <a:srgbClr val="33475B"/>
                </a:solidFill>
                <a:latin typeface="Arial"/>
              </a:rPr>
              <a:t>· In-sample consistency check, not a forecast test</a:t>
            </a:r>
          </a:p>
        </p:txBody>
      </p:sp>
      <p:sp>
        <p:nvSpPr>
          <p:cNvPr id="6" name="TextBox 5"/>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The first four factors are economically readable</a:t>
            </a:r>
          </a:p>
        </p:txBody>
      </p:sp>
      <p:graphicFrame>
        <p:nvGraphicFramePr>
          <p:cNvPr id="4" name="Table 3"/>
          <p:cNvGraphicFramePr>
            <a:graphicFrameLocks noGrp="1"/>
          </p:cNvGraphicFramePr>
          <p:nvPr/>
        </p:nvGraphicFramePr>
        <p:xfrm>
          <a:off x="640080" y="1353312"/>
          <a:ext cx="10881358" cy="1554480"/>
        </p:xfrm>
        <a:graphic>
          <a:graphicData uri="http://schemas.openxmlformats.org/drawingml/2006/table">
            <a:tbl>
              <a:tblPr firstRow="1" bandRow="1">
                <a:tableStyleId>{5C22544A-7EE6-4342-B048-85BDC9FD1C3A}</a:tableStyleId>
              </a:tblPr>
              <a:tblGrid>
                <a:gridCol w="1236518"/>
                <a:gridCol w="1483821"/>
                <a:gridCol w="3214947"/>
                <a:gridCol w="4946072"/>
              </a:tblGrid>
              <a:tr h="310896">
                <a:tc>
                  <a:txBody>
                    <a:bodyPr/>
                    <a:lstStyle/>
                    <a:p>
                      <a:r>
                        <a:rPr sz="1100" b="1">
                          <a:solidFill>
                            <a:srgbClr val="12283F"/>
                          </a:solidFill>
                          <a:latin typeface="Arial"/>
                        </a:rPr>
                        <a:t>Factor</a:t>
                      </a:r>
                    </a:p>
                  </a:txBody>
                  <a:tcPr>
                    <a:solidFill>
                      <a:srgbClr val="FBFAF7"/>
                    </a:solidFill>
                  </a:tcPr>
                </a:tc>
                <a:tc>
                  <a:txBody>
                    <a:bodyPr/>
                    <a:lstStyle/>
                    <a:p>
                      <a:r>
                        <a:rPr sz="1100" b="1">
                          <a:solidFill>
                            <a:srgbClr val="12283F"/>
                          </a:solidFill>
                          <a:latin typeface="Arial"/>
                        </a:rPr>
                        <a:t>Variance</a:t>
                      </a:r>
                    </a:p>
                  </a:txBody>
                  <a:tcPr>
                    <a:solidFill>
                      <a:srgbClr val="FBFAF7"/>
                    </a:solidFill>
                  </a:tcPr>
                </a:tc>
                <a:tc>
                  <a:txBody>
                    <a:bodyPr/>
                    <a:lstStyle/>
                    <a:p>
                      <a:r>
                        <a:rPr sz="1100" b="1">
                          <a:solidFill>
                            <a:srgbClr val="12283F"/>
                          </a:solidFill>
                          <a:latin typeface="Arial"/>
                        </a:rPr>
                        <a:t>Reading</a:t>
                      </a:r>
                    </a:p>
                  </a:txBody>
                  <a:tcPr>
                    <a:solidFill>
                      <a:srgbClr val="FBFAF7"/>
                    </a:solidFill>
                  </a:tcPr>
                </a:tc>
                <a:tc>
                  <a:txBody>
                    <a:bodyPr/>
                    <a:lstStyle/>
                    <a:p>
                      <a:r>
                        <a:rPr sz="1100" b="1">
                          <a:solidFill>
                            <a:srgbClr val="12283F"/>
                          </a:solidFill>
                          <a:latin typeface="Arial"/>
                        </a:rPr>
                        <a:t>Evidence</a:t>
                      </a:r>
                    </a:p>
                  </a:txBody>
                  <a:tcPr>
                    <a:solidFill>
                      <a:srgbClr val="FBFAF7"/>
                    </a:solidFill>
                  </a:tcPr>
                </a:tc>
              </a:tr>
              <a:tr h="310896">
                <a:tc>
                  <a:txBody>
                    <a:bodyPr/>
                    <a:lstStyle/>
                    <a:p>
                      <a:r>
                        <a:rPr sz="1300" b="0">
                          <a:solidFill>
                            <a:srgbClr val="33475B"/>
                          </a:solidFill>
                          <a:latin typeface="Arial"/>
                        </a:rPr>
                        <a:t>F1</a:t>
                      </a:r>
                    </a:p>
                  </a:txBody>
                  <a:tcPr>
                    <a:solidFill>
                      <a:srgbClr val="FBFAF7"/>
                    </a:solidFill>
                  </a:tcPr>
                </a:tc>
                <a:tc>
                  <a:txBody>
                    <a:bodyPr/>
                    <a:lstStyle/>
                    <a:p>
                      <a:r>
                        <a:rPr sz="1300" b="0">
                          <a:solidFill>
                            <a:srgbClr val="33475B"/>
                          </a:solidFill>
                          <a:latin typeface="Arial"/>
                        </a:rPr>
                        <a:t>27.8%</a:t>
                      </a:r>
                    </a:p>
                  </a:txBody>
                  <a:tcPr>
                    <a:solidFill>
                      <a:srgbClr val="FBFAF7"/>
                    </a:solidFill>
                  </a:tcPr>
                </a:tc>
                <a:tc>
                  <a:txBody>
                    <a:bodyPr/>
                    <a:lstStyle/>
                    <a:p>
                      <a:r>
                        <a:rPr sz="1300" b="0">
                          <a:solidFill>
                            <a:srgbClr val="33475B"/>
                          </a:solidFill>
                          <a:latin typeface="Arial"/>
                        </a:rPr>
                        <a:t>broad market</a:t>
                      </a:r>
                    </a:p>
                  </a:txBody>
                  <a:tcPr>
                    <a:solidFill>
                      <a:srgbClr val="FBFAF7"/>
                    </a:solidFill>
                  </a:tcPr>
                </a:tc>
                <a:tc>
                  <a:txBody>
                    <a:bodyPr/>
                    <a:lstStyle/>
                    <a:p>
                      <a:r>
                        <a:rPr sz="1300" b="0">
                          <a:solidFill>
                            <a:srgbClr val="33475B"/>
                          </a:solidFill>
                          <a:latin typeface="Arial"/>
                        </a:rPr>
                        <a:t>correlation 0.996 with the equally weighted index</a:t>
                      </a:r>
                    </a:p>
                  </a:txBody>
                  <a:tcPr>
                    <a:solidFill>
                      <a:srgbClr val="FBFAF7"/>
                    </a:solidFill>
                  </a:tcPr>
                </a:tc>
              </a:tr>
              <a:tr h="310896">
                <a:tc>
                  <a:txBody>
                    <a:bodyPr/>
                    <a:lstStyle/>
                    <a:p>
                      <a:r>
                        <a:rPr sz="1300" b="0">
                          <a:solidFill>
                            <a:srgbClr val="33475B"/>
                          </a:solidFill>
                          <a:latin typeface="Arial"/>
                        </a:rPr>
                        <a:t>F2</a:t>
                      </a:r>
                    </a:p>
                  </a:txBody>
                  <a:tcPr>
                    <a:solidFill>
                      <a:srgbClr val="FBFAF7"/>
                    </a:solidFill>
                  </a:tcPr>
                </a:tc>
                <a:tc>
                  <a:txBody>
                    <a:bodyPr/>
                    <a:lstStyle/>
                    <a:p>
                      <a:r>
                        <a:rPr sz="1300" b="0">
                          <a:solidFill>
                            <a:srgbClr val="33475B"/>
                          </a:solidFill>
                          <a:latin typeface="Arial"/>
                        </a:rPr>
                        <a:t>7.5%</a:t>
                      </a:r>
                    </a:p>
                  </a:txBody>
                  <a:tcPr>
                    <a:solidFill>
                      <a:srgbClr val="FBFAF7"/>
                    </a:solidFill>
                  </a:tcPr>
                </a:tc>
                <a:tc>
                  <a:txBody>
                    <a:bodyPr/>
                    <a:lstStyle/>
                    <a:p>
                      <a:r>
                        <a:rPr sz="1300" b="0">
                          <a:solidFill>
                            <a:srgbClr val="33475B"/>
                          </a:solidFill>
                          <a:latin typeface="Arial"/>
                        </a:rPr>
                        <a:t>Europe vs United States</a:t>
                      </a:r>
                    </a:p>
                  </a:txBody>
                  <a:tcPr>
                    <a:solidFill>
                      <a:srgbClr val="FBFAF7"/>
                    </a:solidFill>
                  </a:tcPr>
                </a:tc>
                <a:tc>
                  <a:txBody>
                    <a:bodyPr/>
                    <a:lstStyle/>
                    <a:p>
                      <a:r>
                        <a:rPr sz="1300" b="0">
                          <a:solidFill>
                            <a:srgbClr val="33475B"/>
                          </a:solidFill>
                          <a:latin typeface="Arial"/>
                        </a:rPr>
                        <a:t>beta +1.43 Europe / -1.73 US</a:t>
                      </a:r>
                    </a:p>
                  </a:txBody>
                  <a:tcPr>
                    <a:solidFill>
                      <a:srgbClr val="FBFAF7"/>
                    </a:solidFill>
                  </a:tcPr>
                </a:tc>
              </a:tr>
              <a:tr h="310896">
                <a:tc>
                  <a:txBody>
                    <a:bodyPr/>
                    <a:lstStyle/>
                    <a:p>
                      <a:r>
                        <a:rPr sz="1300" b="0">
                          <a:solidFill>
                            <a:srgbClr val="33475B"/>
                          </a:solidFill>
                          <a:latin typeface="Arial"/>
                        </a:rPr>
                        <a:t>F3</a:t>
                      </a:r>
                    </a:p>
                  </a:txBody>
                  <a:tcPr>
                    <a:solidFill>
                      <a:srgbClr val="FBFAF7"/>
                    </a:solidFill>
                  </a:tcPr>
                </a:tc>
                <a:tc>
                  <a:txBody>
                    <a:bodyPr/>
                    <a:lstStyle/>
                    <a:p>
                      <a:r>
                        <a:rPr sz="1300" b="0">
                          <a:solidFill>
                            <a:srgbClr val="33475B"/>
                          </a:solidFill>
                          <a:latin typeface="Arial"/>
                        </a:rPr>
                        <a:t>3.4%</a:t>
                      </a:r>
                    </a:p>
                  </a:txBody>
                  <a:tcPr>
                    <a:solidFill>
                      <a:srgbClr val="FBFAF7"/>
                    </a:solidFill>
                  </a:tcPr>
                </a:tc>
                <a:tc>
                  <a:txBody>
                    <a:bodyPr/>
                    <a:lstStyle/>
                    <a:p>
                      <a:r>
                        <a:rPr sz="1300" b="0">
                          <a:solidFill>
                            <a:srgbClr val="33475B"/>
                          </a:solidFill>
                          <a:latin typeface="Arial"/>
                        </a:rPr>
                        <a:t>Energy vs Technology</a:t>
                      </a:r>
                    </a:p>
                  </a:txBody>
                  <a:tcPr>
                    <a:solidFill>
                      <a:srgbClr val="FBFAF7"/>
                    </a:solidFill>
                  </a:tcPr>
                </a:tc>
                <a:tc>
                  <a:txBody>
                    <a:bodyPr/>
                    <a:lstStyle/>
                    <a:p>
                      <a:r>
                        <a:rPr sz="1300" b="0">
                          <a:solidFill>
                            <a:srgbClr val="33475B"/>
                          </a:solidFill>
                          <a:latin typeface="Arial"/>
                        </a:rPr>
                        <a:t>beta -2.76 Energy / +1.75 Technology</a:t>
                      </a:r>
                    </a:p>
                  </a:txBody>
                  <a:tcPr>
                    <a:solidFill>
                      <a:srgbClr val="FBFAF7"/>
                    </a:solidFill>
                  </a:tcPr>
                </a:tc>
              </a:tr>
              <a:tr h="310896">
                <a:tc>
                  <a:txBody>
                    <a:bodyPr/>
                    <a:lstStyle/>
                    <a:p>
                      <a:r>
                        <a:rPr sz="1300" b="0">
                          <a:solidFill>
                            <a:srgbClr val="33475B"/>
                          </a:solidFill>
                          <a:latin typeface="Arial"/>
                        </a:rPr>
                        <a:t>F4</a:t>
                      </a:r>
                    </a:p>
                  </a:txBody>
                  <a:tcPr>
                    <a:solidFill>
                      <a:srgbClr val="FBFAF7"/>
                    </a:solidFill>
                  </a:tcPr>
                </a:tc>
                <a:tc>
                  <a:txBody>
                    <a:bodyPr/>
                    <a:lstStyle/>
                    <a:p>
                      <a:r>
                        <a:rPr sz="1300" b="0">
                          <a:solidFill>
                            <a:srgbClr val="33475B"/>
                          </a:solidFill>
                          <a:latin typeface="Arial"/>
                        </a:rPr>
                        <a:t>2.4%</a:t>
                      </a:r>
                    </a:p>
                  </a:txBody>
                  <a:tcPr>
                    <a:solidFill>
                      <a:srgbClr val="FBFAF7"/>
                    </a:solidFill>
                  </a:tcPr>
                </a:tc>
                <a:tc>
                  <a:txBody>
                    <a:bodyPr/>
                    <a:lstStyle/>
                    <a:p>
                      <a:r>
                        <a:rPr sz="1300" b="0">
                          <a:solidFill>
                            <a:srgbClr val="33475B"/>
                          </a:solidFill>
                          <a:latin typeface="Arial"/>
                        </a:rPr>
                        <a:t>Technology vs Utilities</a:t>
                      </a:r>
                    </a:p>
                  </a:txBody>
                  <a:tcPr>
                    <a:solidFill>
                      <a:srgbClr val="FBFAF7"/>
                    </a:solidFill>
                  </a:tcPr>
                </a:tc>
                <a:tc>
                  <a:txBody>
                    <a:bodyPr/>
                    <a:lstStyle/>
                    <a:p>
                      <a:r>
                        <a:rPr sz="1300" b="0">
                          <a:solidFill>
                            <a:srgbClr val="33475B"/>
                          </a:solidFill>
                          <a:latin typeface="Arial"/>
                        </a:rPr>
                        <a:t>beta -1.47 Technology / +2.94 Utilities</a:t>
                      </a:r>
                    </a:p>
                  </a:txBody>
                  <a:tcPr>
                    <a:solidFill>
                      <a:srgbClr val="FBFAF7"/>
                    </a:solidFill>
                  </a:tcPr>
                </a:tc>
              </a:tr>
            </a:tbl>
          </a:graphicData>
        </a:graphic>
      </p:graphicFrame>
      <p:sp>
        <p:nvSpPr>
          <p:cNvPr id="5" name="TextBox 4"/>
          <p:cNvSpPr txBox="1"/>
          <p:nvPr/>
        </p:nvSpPr>
        <p:spPr>
          <a:xfrm>
            <a:off x="566928" y="3017520"/>
            <a:ext cx="10881360" cy="822960"/>
          </a:xfrm>
          <a:prstGeom prst="rect">
            <a:avLst/>
          </a:prstGeom>
          <a:noFill/>
        </p:spPr>
        <p:txBody>
          <a:bodyPr wrap="square" anchor="t">
            <a:spAutoFit/>
          </a:bodyPr>
          <a:lstStyle/>
          <a:p>
            <a:pPr algn="l">
              <a:lnSpc>
                <a:spcPct val="135000"/>
              </a:lnSpc>
            </a:pPr>
            <a:r>
              <a:rPr sz="1400" b="0" i="0">
                <a:solidFill>
                  <a:srgbClr val="33475B"/>
                </a:solidFill>
                <a:latin typeface="Arial"/>
              </a:rPr>
              <a:t>· Nothing about these was specified in advance</a:t>
            </a:r>
          </a:p>
          <a:p>
            <a:pPr algn="l">
              <a:lnSpc>
                <a:spcPct val="135000"/>
              </a:lnSpc>
            </a:pPr>
            <a:r>
              <a:rPr sz="1400" b="0" i="0">
                <a:solidFill>
                  <a:srgbClr val="33475B"/>
                </a:solidFill>
                <a:latin typeface="Arial"/>
              </a:rPr>
              <a:t>· They are eigenvectors of the return covariance</a:t>
            </a:r>
          </a:p>
          <a:p>
            <a:pPr algn="l">
              <a:lnSpc>
                <a:spcPct val="135000"/>
              </a:lnSpc>
            </a:pPr>
            <a:r>
              <a:rPr sz="1400" b="0" i="0">
                <a:solidFill>
                  <a:srgbClr val="33475B"/>
                </a:solidFill>
                <a:latin typeface="Arial"/>
              </a:rPr>
              <a:t>· An explicit region factor moved the error 13.6% → 13.1% only</a:t>
            </a:r>
          </a:p>
        </p:txBody>
      </p:sp>
      <p:sp>
        <p:nvSpPr>
          <p:cNvPr id="6" name="TextBox 5"/>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Shorter estimation windows look better and are worse</a:t>
            </a:r>
          </a:p>
        </p:txBody>
      </p:sp>
      <p:pic>
        <p:nvPicPr>
          <p:cNvPr id="4" name="Picture 3" descr="b03_windows.png"/>
          <p:cNvPicPr>
            <a:picLocks noChangeAspect="1"/>
          </p:cNvPicPr>
          <p:nvPr/>
        </p:nvPicPr>
        <p:blipFill>
          <a:blip r:embed="rId2"/>
          <a:stretch>
            <a:fillRect/>
          </a:stretch>
        </p:blipFill>
        <p:spPr>
          <a:xfrm>
            <a:off x="566928" y="2089903"/>
            <a:ext cx="6903720" cy="3025664"/>
          </a:xfrm>
          <a:prstGeom prst="rect">
            <a:avLst/>
          </a:prstGeom>
        </p:spPr>
      </p:pic>
      <p:sp>
        <p:nvSpPr>
          <p:cNvPr id="5" name="TextBox 4"/>
          <p:cNvSpPr txBox="1"/>
          <p:nvPr/>
        </p:nvSpPr>
        <p:spPr>
          <a:xfrm>
            <a:off x="7726679" y="1399032"/>
            <a:ext cx="3794760" cy="2743200"/>
          </a:xfrm>
          <a:prstGeom prst="rect">
            <a:avLst/>
          </a:prstGeom>
          <a:noFill/>
        </p:spPr>
        <p:txBody>
          <a:bodyPr wrap="square" anchor="t">
            <a:spAutoFit/>
          </a:bodyPr>
          <a:lstStyle/>
          <a:p>
            <a:pPr algn="l">
              <a:lnSpc>
                <a:spcPct val="145000"/>
              </a:lnSpc>
            </a:pPr>
            <a:r>
              <a:rPr sz="1500" b="0" i="0">
                <a:solidFill>
                  <a:srgbClr val="33475B"/>
                </a:solidFill>
                <a:latin typeface="Arial"/>
              </a:rPr>
              <a:t>· 10y Jaccard 1.00 by construction; 5y 0.283; 3y 0.193</a:t>
            </a:r>
          </a:p>
          <a:p>
            <a:pPr algn="l">
              <a:lnSpc>
                <a:spcPct val="145000"/>
              </a:lnSpc>
            </a:pPr>
            <a:r>
              <a:rPr sz="1500" b="0" i="0">
                <a:solidFill>
                  <a:srgbClr val="33475B"/>
                </a:solidFill>
                <a:latin typeface="Arial"/>
              </a:rPr>
              <a:t>· 3y weight correlation with the 10y book: −0.019</a:t>
            </a:r>
          </a:p>
          <a:p>
            <a:pPr algn="l">
              <a:lnSpc>
                <a:spcPct val="145000"/>
              </a:lnSpc>
            </a:pPr>
            <a:r>
              <a:rPr sz="1500" b="0" i="0">
                <a:solidFill>
                  <a:srgbClr val="33475B"/>
                </a:solidFill>
                <a:latin typeface="Arial"/>
              </a:rPr>
              <a:t>· μ's range widens from 2.7–19.1% to −9.8–46.1%</a:t>
            </a:r>
          </a:p>
        </p:txBody>
      </p:sp>
      <p:sp>
        <p:nvSpPr>
          <p:cNvPr id="6" name="TextBox 5"/>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Why 31 rebalances and not two</a:t>
            </a:r>
          </a:p>
        </p:txBody>
      </p:sp>
      <p:graphicFrame>
        <p:nvGraphicFramePr>
          <p:cNvPr id="4" name="Table 3"/>
          <p:cNvGraphicFramePr>
            <a:graphicFrameLocks noGrp="1"/>
          </p:cNvGraphicFramePr>
          <p:nvPr/>
        </p:nvGraphicFramePr>
        <p:xfrm>
          <a:off x="640080" y="1353312"/>
          <a:ext cx="10881358" cy="1554480"/>
        </p:xfrm>
        <a:graphic>
          <a:graphicData uri="http://schemas.openxmlformats.org/drawingml/2006/table">
            <a:tbl>
              <a:tblPr firstRow="1" bandRow="1">
                <a:tableStyleId>{5C22544A-7EE6-4342-B048-85BDC9FD1C3A}</a:tableStyleId>
              </a:tblPr>
              <a:tblGrid>
                <a:gridCol w="2967643"/>
                <a:gridCol w="2225732"/>
                <a:gridCol w="2720340"/>
                <a:gridCol w="2967643"/>
              </a:tblGrid>
              <a:tr h="310896">
                <a:tc>
                  <a:txBody>
                    <a:bodyPr/>
                    <a:lstStyle/>
                    <a:p>
                      <a:r>
                        <a:rPr sz="1100" b="1">
                          <a:solidFill>
                            <a:srgbClr val="12283F"/>
                          </a:solidFill>
                          <a:latin typeface="Arial"/>
                        </a:rPr>
                        <a:t>Split</a:t>
                      </a:r>
                    </a:p>
                  </a:txBody>
                  <a:tcPr>
                    <a:solidFill>
                      <a:srgbClr val="FBFAF7"/>
                    </a:solidFill>
                  </a:tcPr>
                </a:tc>
                <a:tc>
                  <a:txBody>
                    <a:bodyPr/>
                    <a:lstStyle/>
                    <a:p>
                      <a:r>
                        <a:rPr sz="1100" b="1">
                          <a:solidFill>
                            <a:srgbClr val="12283F"/>
                          </a:solidFill>
                          <a:latin typeface="Arial"/>
                        </a:rPr>
                        <a:t>Book</a:t>
                      </a:r>
                    </a:p>
                  </a:txBody>
                  <a:tcPr>
                    <a:solidFill>
                      <a:srgbClr val="FBFAF7"/>
                    </a:solidFill>
                  </a:tcPr>
                </a:tc>
                <a:tc>
                  <a:txBody>
                    <a:bodyPr/>
                    <a:lstStyle/>
                    <a:p>
                      <a:r>
                        <a:rPr sz="1100" b="1">
                          <a:solidFill>
                            <a:srgbClr val="12283F"/>
                          </a:solidFill>
                          <a:latin typeface="Arial"/>
                        </a:rPr>
                        <a:t>Δ Sharpe vs 1/N</a:t>
                      </a:r>
                    </a:p>
                  </a:txBody>
                  <a:tcPr>
                    <a:solidFill>
                      <a:srgbClr val="FBFAF7"/>
                    </a:solidFill>
                  </a:tcPr>
                </a:tc>
                <a:tc>
                  <a:txBody>
                    <a:bodyPr/>
                    <a:lstStyle/>
                    <a:p>
                      <a:r>
                        <a:rPr sz="1100" b="1">
                          <a:solidFill>
                            <a:srgbClr val="12283F"/>
                          </a:solidFill>
                          <a:latin typeface="Arial"/>
                        </a:rPr>
                        <a:t>Verdict</a:t>
                      </a:r>
                    </a:p>
                  </a:txBody>
                  <a:tcPr>
                    <a:solidFill>
                      <a:srgbClr val="FBFAF7"/>
                    </a:solidFill>
                  </a:tcPr>
                </a:tc>
              </a:tr>
              <a:tr h="310896">
                <a:tc>
                  <a:txBody>
                    <a:bodyPr/>
                    <a:lstStyle/>
                    <a:p>
                      <a:r>
                        <a:rPr sz="1300" b="0">
                          <a:solidFill>
                            <a:srgbClr val="33475B"/>
                          </a:solidFill>
                          <a:latin typeface="Arial"/>
                        </a:rPr>
                        <a:t>2019-12 / 2022-12</a:t>
                      </a:r>
                    </a:p>
                  </a:txBody>
                  <a:tcPr>
                    <a:solidFill>
                      <a:srgbClr val="FBFAF7"/>
                    </a:solidFill>
                  </a:tcPr>
                </a:tc>
                <a:tc>
                  <a:txBody>
                    <a:bodyPr/>
                    <a:lstStyle/>
                    <a:p>
                      <a:r>
                        <a:rPr sz="1300" b="0">
                          <a:solidFill>
                            <a:srgbClr val="33475B"/>
                          </a:solidFill>
                          <a:latin typeface="Arial"/>
                        </a:rPr>
                        <a:t>mandate20</a:t>
                      </a:r>
                    </a:p>
                  </a:txBody>
                  <a:tcPr>
                    <a:solidFill>
                      <a:srgbClr val="FBFAF7"/>
                    </a:solidFill>
                  </a:tcPr>
                </a:tc>
                <a:tc>
                  <a:txBody>
                    <a:bodyPr/>
                    <a:lstStyle/>
                    <a:p>
                      <a:r>
                        <a:rPr sz="1300" b="0">
                          <a:solidFill>
                            <a:srgbClr val="33475B"/>
                          </a:solidFill>
                          <a:latin typeface="Arial"/>
                        </a:rPr>
                        <a:t>+0.087</a:t>
                      </a:r>
                    </a:p>
                  </a:txBody>
                  <a:tcPr>
                    <a:solidFill>
                      <a:srgbClr val="FBFAF7"/>
                    </a:solidFill>
                  </a:tcPr>
                </a:tc>
                <a:tc>
                  <a:txBody>
                    <a:bodyPr/>
                    <a:lstStyle/>
                    <a:p>
                      <a:r>
                        <a:rPr sz="1300" b="0">
                          <a:solidFill>
                            <a:srgbClr val="33475B"/>
                          </a:solidFill>
                          <a:latin typeface="Arial"/>
                        </a:rPr>
                        <a:t>beats 1/N</a:t>
                      </a:r>
                    </a:p>
                  </a:txBody>
                  <a:tcPr>
                    <a:solidFill>
                      <a:srgbClr val="FBFAF7"/>
                    </a:solidFill>
                  </a:tcPr>
                </a:tc>
              </a:tr>
              <a:tr h="310896">
                <a:tc>
                  <a:txBody>
                    <a:bodyPr/>
                    <a:lstStyle/>
                    <a:p>
                      <a:r>
                        <a:rPr sz="1300" b="0">
                          <a:solidFill>
                            <a:srgbClr val="33475B"/>
                          </a:solidFill>
                          <a:latin typeface="Arial"/>
                        </a:rPr>
                        <a:t>2020-06 / 2023-06</a:t>
                      </a:r>
                    </a:p>
                  </a:txBody>
                  <a:tcPr>
                    <a:solidFill>
                      <a:srgbClr val="FBFAF7"/>
                    </a:solidFill>
                  </a:tcPr>
                </a:tc>
                <a:tc>
                  <a:txBody>
                    <a:bodyPr/>
                    <a:lstStyle/>
                    <a:p>
                      <a:r>
                        <a:rPr sz="1300" b="0">
                          <a:solidFill>
                            <a:srgbClr val="33475B"/>
                          </a:solidFill>
                          <a:latin typeface="Arial"/>
                        </a:rPr>
                        <a:t>mandate20</a:t>
                      </a:r>
                    </a:p>
                  </a:txBody>
                  <a:tcPr>
                    <a:solidFill>
                      <a:srgbClr val="FBFAF7"/>
                    </a:solidFill>
                  </a:tcPr>
                </a:tc>
                <a:tc>
                  <a:txBody>
                    <a:bodyPr/>
                    <a:lstStyle/>
                    <a:p>
                      <a:r>
                        <a:rPr sz="1300" b="0">
                          <a:solidFill>
                            <a:srgbClr val="33475B"/>
                          </a:solidFill>
                          <a:latin typeface="Arial"/>
                        </a:rPr>
                        <a:t>−0.244</a:t>
                      </a:r>
                    </a:p>
                  </a:txBody>
                  <a:tcPr>
                    <a:solidFill>
                      <a:srgbClr val="FBFAF7"/>
                    </a:solidFill>
                  </a:tcPr>
                </a:tc>
                <a:tc>
                  <a:txBody>
                    <a:bodyPr/>
                    <a:lstStyle/>
                    <a:p>
                      <a:r>
                        <a:rPr sz="1300" b="0">
                          <a:solidFill>
                            <a:srgbClr val="33475B"/>
                          </a:solidFill>
                          <a:latin typeface="Arial"/>
                        </a:rPr>
                        <a:t>loses to 1/N</a:t>
                      </a:r>
                    </a:p>
                  </a:txBody>
                  <a:tcPr>
                    <a:solidFill>
                      <a:srgbClr val="FBFAF7"/>
                    </a:solidFill>
                  </a:tcPr>
                </a:tc>
              </a:tr>
              <a:tr h="310896">
                <a:tc>
                  <a:txBody>
                    <a:bodyPr/>
                    <a:lstStyle/>
                    <a:p>
                      <a:r>
                        <a:rPr sz="1300" b="0">
                          <a:solidFill>
                            <a:srgbClr val="33475B"/>
                          </a:solidFill>
                          <a:latin typeface="Arial"/>
                        </a:rPr>
                        <a:t>three-point variant</a:t>
                      </a:r>
                    </a:p>
                  </a:txBody>
                  <a:tcPr>
                    <a:solidFill>
                      <a:srgbClr val="FBFAF7"/>
                    </a:solidFill>
                  </a:tcPr>
                </a:tc>
                <a:tc>
                  <a:txBody>
                    <a:bodyPr/>
                    <a:lstStyle/>
                    <a:p>
                      <a:r>
                        <a:rPr sz="1300" b="0">
                          <a:solidFill>
                            <a:srgbClr val="33475B"/>
                          </a:solidFill>
                          <a:latin typeface="Arial"/>
                        </a:rPr>
                        <a:t>mandate20</a:t>
                      </a:r>
                    </a:p>
                  </a:txBody>
                  <a:tcPr>
                    <a:solidFill>
                      <a:srgbClr val="FBFAF7"/>
                    </a:solidFill>
                  </a:tcPr>
                </a:tc>
                <a:tc>
                  <a:txBody>
                    <a:bodyPr/>
                    <a:lstStyle/>
                    <a:p>
                      <a:r>
                        <a:rPr sz="1300" b="0">
                          <a:solidFill>
                            <a:srgbClr val="33475B"/>
                          </a:solidFill>
                          <a:latin typeface="Arial"/>
                        </a:rPr>
                        <a:t>−0.130</a:t>
                      </a:r>
                    </a:p>
                  </a:txBody>
                  <a:tcPr>
                    <a:solidFill>
                      <a:srgbClr val="FBFAF7"/>
                    </a:solidFill>
                  </a:tcPr>
                </a:tc>
                <a:tc>
                  <a:txBody>
                    <a:bodyPr/>
                    <a:lstStyle/>
                    <a:p>
                      <a:r>
                        <a:rPr sz="1300" b="0">
                          <a:solidFill>
                            <a:srgbClr val="33475B"/>
                          </a:solidFill>
                          <a:latin typeface="Arial"/>
                        </a:rPr>
                        <a:t>loses to 1/N</a:t>
                      </a:r>
                    </a:p>
                  </a:txBody>
                  <a:tcPr>
                    <a:solidFill>
                      <a:srgbClr val="FBFAF7"/>
                    </a:solidFill>
                  </a:tcPr>
                </a:tc>
              </a:tr>
              <a:tr h="310896">
                <a:tc>
                  <a:txBody>
                    <a:bodyPr/>
                    <a:lstStyle/>
                    <a:p>
                      <a:r>
                        <a:rPr sz="1300" b="1">
                          <a:solidFill>
                            <a:srgbClr val="12283F"/>
                          </a:solidFill>
                          <a:latin typeface="Arial"/>
                        </a:rPr>
                        <a:t>31 rebalances</a:t>
                      </a:r>
                    </a:p>
                  </a:txBody>
                  <a:tcPr>
                    <a:solidFill>
                      <a:srgbClr val="EDF0F3"/>
                    </a:solidFill>
                  </a:tcPr>
                </a:tc>
                <a:tc>
                  <a:txBody>
                    <a:bodyPr/>
                    <a:lstStyle/>
                    <a:p>
                      <a:r>
                        <a:rPr sz="1300" b="1">
                          <a:solidFill>
                            <a:srgbClr val="12283F"/>
                          </a:solidFill>
                          <a:latin typeface="Arial"/>
                        </a:rPr>
                        <a:t>mandate20</a:t>
                      </a:r>
                    </a:p>
                  </a:txBody>
                  <a:tcPr>
                    <a:solidFill>
                      <a:srgbClr val="EDF0F3"/>
                    </a:solidFill>
                  </a:tcPr>
                </a:tc>
                <a:tc>
                  <a:txBody>
                    <a:bodyPr/>
                    <a:lstStyle/>
                    <a:p>
                      <a:r>
                        <a:rPr sz="1300" b="1">
                          <a:solidFill>
                            <a:srgbClr val="12283F"/>
                          </a:solidFill>
                          <a:latin typeface="Arial"/>
                        </a:rPr>
                        <a:t>+0.010</a:t>
                      </a:r>
                    </a:p>
                  </a:txBody>
                  <a:tcPr>
                    <a:solidFill>
                      <a:srgbClr val="EDF0F3"/>
                    </a:solidFill>
                  </a:tcPr>
                </a:tc>
                <a:tc>
                  <a:txBody>
                    <a:bodyPr/>
                    <a:lstStyle/>
                    <a:p>
                      <a:r>
                        <a:rPr sz="1300" b="1">
                          <a:solidFill>
                            <a:srgbClr val="12283F"/>
                          </a:solidFill>
                          <a:latin typeface="Arial"/>
                        </a:rPr>
                        <a:t>not distinguishable</a:t>
                      </a:r>
                    </a:p>
                  </a:txBody>
                  <a:tcPr>
                    <a:solidFill>
                      <a:srgbClr val="EDF0F3"/>
                    </a:solidFill>
                  </a:tcPr>
                </a:tc>
              </a:tr>
            </a:tbl>
          </a:graphicData>
        </a:graphic>
      </p:graphicFrame>
      <p:sp>
        <p:nvSpPr>
          <p:cNvPr id="5" name="TextBox 4"/>
          <p:cNvSpPr txBox="1"/>
          <p:nvPr/>
        </p:nvSpPr>
        <p:spPr>
          <a:xfrm>
            <a:off x="566928" y="3017520"/>
            <a:ext cx="10881360" cy="822960"/>
          </a:xfrm>
          <a:prstGeom prst="rect">
            <a:avLst/>
          </a:prstGeom>
          <a:noFill/>
        </p:spPr>
        <p:txBody>
          <a:bodyPr wrap="square" anchor="t">
            <a:spAutoFit/>
          </a:bodyPr>
          <a:lstStyle/>
          <a:p>
            <a:pPr algn="l">
              <a:lnSpc>
                <a:spcPct val="135000"/>
              </a:lnSpc>
            </a:pPr>
            <a:r>
              <a:rPr sz="1400" b="0" i="0">
                <a:solidFill>
                  <a:srgbClr val="33475B"/>
                </a:solidFill>
                <a:latin typeface="Arial"/>
              </a:rPr>
              <a:t>· A spread of 0.331, decided by where the boundary falls</a:t>
            </a:r>
          </a:p>
          <a:p>
            <a:pPr algn="l">
              <a:lnSpc>
                <a:spcPct val="135000"/>
              </a:lnSpc>
            </a:pPr>
            <a:r>
              <a:rPr sz="1400" b="0" i="0">
                <a:solidFill>
                  <a:srgbClr val="33475B"/>
                </a:solidFill>
                <a:latin typeface="Arial"/>
              </a:rPr>
              <a:t>· Two observations cannot separate skill from luck</a:t>
            </a:r>
          </a:p>
          <a:p>
            <a:pPr algn="l">
              <a:lnSpc>
                <a:spcPct val="135000"/>
              </a:lnSpc>
            </a:pPr>
            <a:r>
              <a:rPr sz="1400" b="0" i="0">
                <a:solidFill>
                  <a:srgbClr val="33475B"/>
                </a:solidFill>
                <a:latin typeface="Arial"/>
              </a:rPr>
              <a:t>· We tested the objection rather than asserting it</a:t>
            </a:r>
          </a:p>
        </p:txBody>
      </p:sp>
      <p:sp>
        <p:nvSpPr>
          <p:cNvPr id="6" name="TextBox 5"/>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Six reproducibility gates, and three defects they caught</a:t>
            </a:r>
          </a:p>
        </p:txBody>
      </p:sp>
      <p:graphicFrame>
        <p:nvGraphicFramePr>
          <p:cNvPr id="4" name="Table 3"/>
          <p:cNvGraphicFramePr>
            <a:graphicFrameLocks noGrp="1"/>
          </p:cNvGraphicFramePr>
          <p:nvPr/>
        </p:nvGraphicFramePr>
        <p:xfrm>
          <a:off x="640080" y="1353312"/>
          <a:ext cx="10881359" cy="2176272"/>
        </p:xfrm>
        <a:graphic>
          <a:graphicData uri="http://schemas.openxmlformats.org/drawingml/2006/table">
            <a:tbl>
              <a:tblPr firstRow="1" bandRow="1">
                <a:tableStyleId>{5C22544A-7EE6-4342-B048-85BDC9FD1C3A}</a:tableStyleId>
              </a:tblPr>
              <a:tblGrid>
                <a:gridCol w="4946072"/>
                <a:gridCol w="5935287"/>
              </a:tblGrid>
              <a:tr h="310896">
                <a:tc>
                  <a:txBody>
                    <a:bodyPr/>
                    <a:lstStyle/>
                    <a:p>
                      <a:r>
                        <a:rPr sz="1100" b="1">
                          <a:solidFill>
                            <a:srgbClr val="12283F"/>
                          </a:solidFill>
                          <a:latin typeface="Arial"/>
                        </a:rPr>
                        <a:t>Gate</a:t>
                      </a:r>
                    </a:p>
                  </a:txBody>
                  <a:tcPr>
                    <a:solidFill>
                      <a:srgbClr val="FBFAF7"/>
                    </a:solidFill>
                  </a:tcPr>
                </a:tc>
                <a:tc>
                  <a:txBody>
                    <a:bodyPr/>
                    <a:lstStyle/>
                    <a:p>
                      <a:r>
                        <a:rPr sz="1100" b="1">
                          <a:solidFill>
                            <a:srgbClr val="12283F"/>
                          </a:solidFill>
                          <a:latin typeface="Arial"/>
                        </a:rPr>
                        <a:t>Result</a:t>
                      </a:r>
                    </a:p>
                  </a:txBody>
                  <a:tcPr>
                    <a:solidFill>
                      <a:srgbClr val="FBFAF7"/>
                    </a:solidFill>
                  </a:tcPr>
                </a:tc>
              </a:tr>
              <a:tr h="310896">
                <a:tc>
                  <a:txBody>
                    <a:bodyPr/>
                    <a:lstStyle/>
                    <a:p>
                      <a:r>
                        <a:rPr sz="1100" b="0">
                          <a:solidFill>
                            <a:srgbClr val="33475B"/>
                          </a:solidFill>
                          <a:latin typeface="Arial"/>
                        </a:rPr>
                        <a:t>rewriting the group caps in a different idiom</a:t>
                      </a:r>
                    </a:p>
                  </a:txBody>
                  <a:tcPr>
                    <a:solidFill>
                      <a:srgbClr val="FBFAF7"/>
                    </a:solidFill>
                  </a:tcPr>
                </a:tc>
                <a:tc>
                  <a:txBody>
                    <a:bodyPr/>
                    <a:lstStyle/>
                    <a:p>
                      <a:r>
                        <a:rPr sz="1100" b="0">
                          <a:solidFill>
                            <a:srgbClr val="33475B"/>
                          </a:solidFill>
                          <a:latin typeface="Arial"/>
                        </a:rPr>
                        <a:t>byte-identical LP file; all 15 frontier points re-solved with max |delta weight| = 0.000</a:t>
                      </a:r>
                    </a:p>
                  </a:txBody>
                  <a:tcPr>
                    <a:solidFill>
                      <a:srgbClr val="FBFAF7"/>
                    </a:solidFill>
                  </a:tcPr>
                </a:tc>
              </a:tr>
              <a:tr h="310896">
                <a:tc>
                  <a:txBody>
                    <a:bodyPr/>
                    <a:lstStyle/>
                    <a:p>
                      <a:r>
                        <a:rPr sz="1100" b="0">
                          <a:solidFill>
                            <a:srgbClr val="33475B"/>
                          </a:solidFill>
                          <a:latin typeface="Arial"/>
                        </a:rPr>
                        <a:t>rebuilding the covariance at k=20</a:t>
                      </a:r>
                    </a:p>
                  </a:txBody>
                  <a:tcPr>
                    <a:solidFill>
                      <a:srgbClr val="FBFAF7"/>
                    </a:solidFill>
                  </a:tcPr>
                </a:tc>
                <a:tc>
                  <a:txBody>
                    <a:bodyPr/>
                    <a:lstStyle/>
                    <a:p>
                      <a:r>
                        <a:rPr sz="1100" b="0">
                          <a:solidFill>
                            <a:srgbClr val="33475B"/>
                          </a:solidFill>
                          <a:latin typeface="Arial"/>
                        </a:rPr>
                        <a:t>reproduces the shipped matrix to 1.8e-15</a:t>
                      </a:r>
                    </a:p>
                  </a:txBody>
                  <a:tcPr>
                    <a:solidFill>
                      <a:srgbClr val="FBFAF7"/>
                    </a:solidFill>
                  </a:tcPr>
                </a:tc>
              </a:tr>
              <a:tr h="310896">
                <a:tc>
                  <a:txBody>
                    <a:bodyPr/>
                    <a:lstStyle/>
                    <a:p>
                      <a:r>
                        <a:rPr sz="1100" b="0">
                          <a:solidFill>
                            <a:srgbClr val="33475B"/>
                          </a:solidFill>
                          <a:latin typeface="Arial"/>
                        </a:rPr>
                        <a:t>re-estimating on the ten-year window</a:t>
                      </a:r>
                    </a:p>
                  </a:txBody>
                  <a:tcPr>
                    <a:solidFill>
                      <a:srgbClr val="FBFAF7"/>
                    </a:solidFill>
                  </a:tcPr>
                </a:tc>
                <a:tc>
                  <a:txBody>
                    <a:bodyPr/>
                    <a:lstStyle/>
                    <a:p>
                      <a:r>
                        <a:rPr sz="1100" b="0">
                          <a:solidFill>
                            <a:srgbClr val="33475B"/>
                          </a:solidFill>
                          <a:latin typeface="Arial"/>
                        </a:rPr>
                        <a:t>reproduces mu to 1.7e-16 and Sigma to 1.8e-15</a:t>
                      </a:r>
                    </a:p>
                  </a:txBody>
                  <a:tcPr>
                    <a:solidFill>
                      <a:srgbClr val="FBFAF7"/>
                    </a:solidFill>
                  </a:tcPr>
                </a:tc>
              </a:tr>
              <a:tr h="310896">
                <a:tc>
                  <a:txBody>
                    <a:bodyPr/>
                    <a:lstStyle/>
                    <a:p>
                      <a:r>
                        <a:rPr sz="1100" b="0">
                          <a:solidFill>
                            <a:srgbClr val="33475B"/>
                          </a:solidFill>
                          <a:latin typeface="Arial"/>
                        </a:rPr>
                        <a:t>new backtest harness vs the original</a:t>
                      </a:r>
                    </a:p>
                  </a:txBody>
                  <a:tcPr>
                    <a:solidFill>
                      <a:srgbClr val="FBFAF7"/>
                    </a:solidFill>
                  </a:tcPr>
                </a:tc>
                <a:tc>
                  <a:txBody>
                    <a:bodyPr/>
                    <a:lstStyle/>
                    <a:p>
                      <a:r>
                        <a:rPr sz="1100" b="0">
                          <a:solidFill>
                            <a:srgbClr val="33475B"/>
                          </a:solidFill>
                          <a:latin typeface="Arial"/>
                        </a:rPr>
                        <a:t>Sharpe 0.829 vs 0.835, volatility 13.197% vs 13.210%</a:t>
                      </a:r>
                    </a:p>
                  </a:txBody>
                  <a:tcPr>
                    <a:solidFill>
                      <a:srgbClr val="FBFAF7"/>
                    </a:solidFill>
                  </a:tcPr>
                </a:tc>
              </a:tr>
              <a:tr h="310896">
                <a:tc>
                  <a:txBody>
                    <a:bodyPr/>
                    <a:lstStyle/>
                    <a:p>
                      <a:r>
                        <a:rPr sz="1100" b="0">
                          <a:solidFill>
                            <a:srgbClr val="33475B"/>
                          </a:solidFill>
                          <a:latin typeface="Arial"/>
                        </a:rPr>
                        <a:t>new 1/N vs an independently built one</a:t>
                      </a:r>
                    </a:p>
                  </a:txBody>
                  <a:tcPr>
                    <a:solidFill>
                      <a:srgbClr val="FBFAF7"/>
                    </a:solidFill>
                  </a:tcPr>
                </a:tc>
                <a:tc>
                  <a:txBody>
                    <a:bodyPr/>
                    <a:lstStyle/>
                    <a:p>
                      <a:r>
                        <a:rPr sz="1100" b="0">
                          <a:solidFill>
                            <a:srgbClr val="33475B"/>
                          </a:solidFill>
                          <a:latin typeface="Arial"/>
                        </a:rPr>
                        <a:t>Sharpe 0.867 vs 0.866</a:t>
                      </a:r>
                    </a:p>
                  </a:txBody>
                  <a:tcPr>
                    <a:solidFill>
                      <a:srgbClr val="FBFAF7"/>
                    </a:solidFill>
                  </a:tcPr>
                </a:tc>
              </a:tr>
              <a:tr h="310896">
                <a:tc>
                  <a:txBody>
                    <a:bodyPr/>
                    <a:lstStyle/>
                    <a:p>
                      <a:r>
                        <a:rPr sz="1100" b="0">
                          <a:solidFill>
                            <a:srgbClr val="33475B"/>
                          </a:solidFill>
                          <a:latin typeface="Arial"/>
                        </a:rPr>
                        <a:t>regenerated presentation inputs</a:t>
                      </a:r>
                    </a:p>
                  </a:txBody>
                  <a:tcPr>
                    <a:solidFill>
                      <a:srgbClr val="FBFAF7"/>
                    </a:solidFill>
                  </a:tcPr>
                </a:tc>
                <a:tc>
                  <a:txBody>
                    <a:bodyPr/>
                    <a:lstStyle/>
                    <a:p>
                      <a:r>
                        <a:rPr sz="1100" b="0">
                          <a:solidFill>
                            <a:srgbClr val="33475B"/>
                          </a:solidFill>
                          <a:latin typeface="Arial"/>
                        </a:rPr>
                        <a:t>every field matches the original; the rebuilt PDF is text-identical</a:t>
                      </a:r>
                    </a:p>
                  </a:txBody>
                  <a:tcPr>
                    <a:solidFill>
                      <a:srgbClr val="FBFAF7"/>
                    </a:solidFill>
                  </a:tcPr>
                </a:tc>
              </a:tr>
            </a:tbl>
          </a:graphicData>
        </a:graphic>
      </p:graphicFrame>
      <p:sp>
        <p:nvSpPr>
          <p:cNvPr id="5" name="TextBox 4"/>
          <p:cNvSpPr txBox="1"/>
          <p:nvPr/>
        </p:nvSpPr>
        <p:spPr>
          <a:xfrm>
            <a:off x="566928" y="3639312"/>
            <a:ext cx="10881360" cy="822960"/>
          </a:xfrm>
          <a:prstGeom prst="rect">
            <a:avLst/>
          </a:prstGeom>
          <a:noFill/>
        </p:spPr>
        <p:txBody>
          <a:bodyPr wrap="square" anchor="t">
            <a:spAutoFit/>
          </a:bodyPr>
          <a:lstStyle/>
          <a:p>
            <a:pPr algn="l">
              <a:lnSpc>
                <a:spcPct val="135000"/>
              </a:lnSpc>
            </a:pPr>
            <a:r>
              <a:rPr sz="1400" b="0" i="0">
                <a:solidFill>
                  <a:srgbClr val="33475B"/>
                </a:solidFill>
                <a:latin typeface="Arial"/>
              </a:rPr>
              <a:t>· A number that cannot be reproduced is not evidence</a:t>
            </a:r>
          </a:p>
          <a:p>
            <a:pPr algn="l">
              <a:lnSpc>
                <a:spcPct val="135000"/>
              </a:lnSpc>
            </a:pPr>
            <a:r>
              <a:rPr sz="1400" b="0" i="0">
                <a:solidFill>
                  <a:srgbClr val="33475B"/>
                </a:solidFill>
                <a:latin typeface="Arial"/>
              </a:rPr>
              <a:t>· The deck itself was unbuildable by anyone else at one point</a:t>
            </a:r>
          </a:p>
          <a:p>
            <a:pPr algn="l">
              <a:lnSpc>
                <a:spcPct val="135000"/>
              </a:lnSpc>
            </a:pPr>
            <a:r>
              <a:rPr sz="1400" b="0" i="0">
                <a:solidFill>
                  <a:srgbClr val="33475B"/>
                </a:solidFill>
                <a:latin typeface="Arial"/>
              </a:rPr>
              <a:t>· A 1e-6 tolerance counted zero positions where there was one</a:t>
            </a:r>
          </a:p>
        </p:txBody>
      </p:sp>
      <p:sp>
        <p:nvSpPr>
          <p:cNvPr id="6" name="TextBox 5"/>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Weapons screening, and a ticker that would have hidden it</a:t>
            </a:r>
          </a:p>
        </p:txBody>
      </p:sp>
      <p:sp>
        <p:nvSpPr>
          <p:cNvPr id="4" name="TextBox 3"/>
          <p:cNvSpPr txBox="1"/>
          <p:nvPr/>
        </p:nvSpPr>
        <p:spPr>
          <a:xfrm>
            <a:off x="566928" y="1353312"/>
            <a:ext cx="10881360" cy="822960"/>
          </a:xfrm>
          <a:prstGeom prst="rect">
            <a:avLst/>
          </a:prstGeom>
          <a:noFill/>
        </p:spPr>
        <p:txBody>
          <a:bodyPr wrap="square" anchor="t">
            <a:spAutoFit/>
          </a:bodyPr>
          <a:lstStyle/>
          <a:p>
            <a:pPr algn="l">
              <a:lnSpc>
                <a:spcPct val="135000"/>
              </a:lnSpc>
            </a:pPr>
            <a:r>
              <a:rPr sz="1400" b="0" i="0">
                <a:solidFill>
                  <a:srgbClr val="33475B"/>
                </a:solidFill>
                <a:latin typeface="Arial"/>
              </a:rPr>
              <a:t>· Tier 1: weapons are the core business — always excluded</a:t>
            </a:r>
          </a:p>
          <a:p>
            <a:pPr algn="l">
              <a:lnSpc>
                <a:spcPct val="135000"/>
              </a:lnSpc>
            </a:pPr>
            <a:r>
              <a:rPr sz="1400" b="0" i="0">
                <a:solidFill>
                  <a:srgbClr val="33475B"/>
                </a:solidFill>
                <a:latin typeface="Arial"/>
              </a:rPr>
              <a:t>· Tier 2: diversified defence — a toggle, currently off, costs 0.004 pp</a:t>
            </a:r>
          </a:p>
          <a:p>
            <a:pPr algn="l">
              <a:lnSpc>
                <a:spcPct val="135000"/>
              </a:lnSpc>
            </a:pPr>
            <a:r>
              <a:rPr sz="1400" b="0" i="0">
                <a:solidFill>
                  <a:srgbClr val="33475B"/>
                </a:solidFill>
                <a:latin typeface="Arial"/>
              </a:rPr>
              <a:t>· Four of ten Tier 2 tickers were absent from the dataset</a:t>
            </a:r>
          </a:p>
        </p:txBody>
      </p:sp>
      <p:sp>
        <p:nvSpPr>
          <p:cNvPr id="5" name="Rectangle 4"/>
          <p:cNvSpPr/>
          <p:nvPr/>
        </p:nvSpPr>
        <p:spPr>
          <a:xfrm>
            <a:off x="566928" y="2377440"/>
            <a:ext cx="50292" cy="640080"/>
          </a:xfrm>
          <a:prstGeom prst="rect">
            <a:avLst/>
          </a:prstGeom>
          <a:solidFill>
            <a:srgbClr val="A6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414016"/>
            <a:ext cx="10515600" cy="585216"/>
          </a:xfrm>
          <a:prstGeom prst="rect">
            <a:avLst/>
          </a:prstGeom>
          <a:noFill/>
        </p:spPr>
        <p:txBody>
          <a:bodyPr wrap="square" anchor="t">
            <a:spAutoFit/>
          </a:bodyPr>
          <a:lstStyle/>
          <a:p>
            <a:pPr algn="l">
              <a:lnSpc>
                <a:spcPct val="120000"/>
              </a:lnSpc>
            </a:pPr>
            <a:r>
              <a:rPr sz="1300" b="0" i="0">
                <a:solidFill>
                  <a:srgbClr val="A63A2E"/>
                </a:solidFill>
                <a:latin typeface="Arial"/>
              </a:rPr>
              <a:t>BA.L was the dangerous one. BA.N exists in this dataset and is Boeing, so a plausible-looking correction would have excluded the wrong company.</a:t>
            </a:r>
          </a:p>
        </p:txBody>
      </p:sp>
      <p:sp>
        <p:nvSpPr>
          <p:cNvPr id="7" name="TextBox 6"/>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What the 1/N benchmark is, and is not</a:t>
            </a:r>
          </a:p>
        </p:txBody>
      </p:sp>
      <p:sp>
        <p:nvSpPr>
          <p:cNvPr id="4" name="TextBox 3"/>
          <p:cNvSpPr txBox="1"/>
          <p:nvPr/>
        </p:nvSpPr>
        <p:spPr>
          <a:xfrm>
            <a:off x="566928" y="1353312"/>
            <a:ext cx="10881360" cy="822960"/>
          </a:xfrm>
          <a:prstGeom prst="rect">
            <a:avLst/>
          </a:prstGeom>
          <a:noFill/>
        </p:spPr>
        <p:txBody>
          <a:bodyPr wrap="square" anchor="t">
            <a:spAutoFit/>
          </a:bodyPr>
          <a:lstStyle/>
          <a:p>
            <a:pPr algn="l">
              <a:lnSpc>
                <a:spcPct val="135000"/>
              </a:lnSpc>
            </a:pPr>
            <a:r>
              <a:rPr sz="1400" b="0" i="0">
                <a:solidFill>
                  <a:srgbClr val="33475B"/>
                </a:solidFill>
                <a:latin typeface="Arial"/>
              </a:rPr>
              <a:t>· 0.093% per name against the brief's 1% floor</a:t>
            </a:r>
          </a:p>
          <a:p>
            <a:pPr algn="l">
              <a:lnSpc>
                <a:spcPct val="135000"/>
              </a:lnSpc>
            </a:pPr>
            <a:r>
              <a:rPr sz="1400" b="0" i="0">
                <a:solidFill>
                  <a:srgbClr val="33475B"/>
                </a:solidFill>
                <a:latin typeface="Arial"/>
              </a:rPr>
              <a:t>· Rebalancing frequency moves it 0.9 pp of CAGR</a:t>
            </a:r>
          </a:p>
          <a:p>
            <a:pPr algn="l">
              <a:lnSpc>
                <a:spcPct val="135000"/>
              </a:lnSpc>
            </a:pPr>
            <a:r>
              <a:rPr sz="1400" b="0" i="0">
                <a:solidFill>
                  <a:srgbClr val="33475B"/>
                </a:solidFill>
                <a:latin typeface="Arial"/>
              </a:rPr>
              <a:t>· The ESG-screened variant breaks the 60% region cap</a:t>
            </a:r>
          </a:p>
        </p:txBody>
      </p:sp>
      <p:sp>
        <p:nvSpPr>
          <p:cNvPr id="5" name="Rectangle 4"/>
          <p:cNvSpPr/>
          <p:nvPr/>
        </p:nvSpPr>
        <p:spPr>
          <a:xfrm>
            <a:off x="566928" y="2377440"/>
            <a:ext cx="50292" cy="640080"/>
          </a:xfrm>
          <a:prstGeom prst="rect">
            <a:avLst/>
          </a:prstGeom>
          <a:solidFill>
            <a:srgbClr val="1228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414016"/>
            <a:ext cx="10515600" cy="585216"/>
          </a:xfrm>
          <a:prstGeom prst="rect">
            <a:avLst/>
          </a:prstGeom>
          <a:noFill/>
        </p:spPr>
        <p:txBody>
          <a:bodyPr wrap="square" anchor="t">
            <a:spAutoFit/>
          </a:bodyPr>
          <a:lstStyle/>
          <a:p>
            <a:pPr algn="l">
              <a:lnSpc>
                <a:spcPct val="120000"/>
              </a:lnSpc>
            </a:pPr>
            <a:r>
              <a:rPr sz="1300" b="0" i="0">
                <a:solidFill>
                  <a:srgbClr val="12283F"/>
                </a:solidFill>
                <a:latin typeface="Arial"/>
              </a:rPr>
              <a:t>No 1/N variant is admissible under the brief. It is a reference for what no skill would have earned, not a portfolio we could have proposed.</a:t>
            </a:r>
          </a:p>
        </p:txBody>
      </p:sp>
      <p:sp>
        <p:nvSpPr>
          <p:cNvPr id="7" name="TextBox 6"/>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The sub-period record across six regimes</a:t>
            </a:r>
          </a:p>
        </p:txBody>
      </p:sp>
      <p:graphicFrame>
        <p:nvGraphicFramePr>
          <p:cNvPr id="4" name="Table 3"/>
          <p:cNvGraphicFramePr>
            <a:graphicFrameLocks noGrp="1"/>
          </p:cNvGraphicFramePr>
          <p:nvPr/>
        </p:nvGraphicFramePr>
        <p:xfrm>
          <a:off x="640080" y="1353312"/>
          <a:ext cx="10881357" cy="2487168"/>
        </p:xfrm>
        <a:graphic>
          <a:graphicData uri="http://schemas.openxmlformats.org/drawingml/2006/table">
            <a:tbl>
              <a:tblPr firstRow="1" bandRow="1">
                <a:tableStyleId>{5C22544A-7EE6-4342-B048-85BDC9FD1C3A}</a:tableStyleId>
              </a:tblPr>
              <a:tblGrid>
                <a:gridCol w="2152356"/>
                <a:gridCol w="2271932"/>
                <a:gridCol w="1793630"/>
                <a:gridCol w="1554480"/>
                <a:gridCol w="1674055"/>
                <a:gridCol w="1434904"/>
              </a:tblGrid>
              <a:tr h="310896">
                <a:tc>
                  <a:txBody>
                    <a:bodyPr/>
                    <a:lstStyle/>
                    <a:p>
                      <a:r>
                        <a:rPr sz="1100" b="1">
                          <a:solidFill>
                            <a:srgbClr val="12283F"/>
                          </a:solidFill>
                          <a:latin typeface="Arial"/>
                        </a:rPr>
                        <a:t>Period</a:t>
                      </a:r>
                    </a:p>
                  </a:txBody>
                  <a:tcPr>
                    <a:solidFill>
                      <a:srgbClr val="FBFAF7"/>
                    </a:solidFill>
                  </a:tcPr>
                </a:tc>
                <a:tc>
                  <a:txBody>
                    <a:bodyPr/>
                    <a:lstStyle/>
                    <a:p>
                      <a:r>
                        <a:rPr sz="1100" b="1">
                          <a:solidFill>
                            <a:srgbClr val="12283F"/>
                          </a:solidFill>
                          <a:latin typeface="Arial"/>
                        </a:rPr>
                        <a:t>Regime</a:t>
                      </a:r>
                    </a:p>
                  </a:txBody>
                  <a:tcPr>
                    <a:solidFill>
                      <a:srgbClr val="FBFAF7"/>
                    </a:solidFill>
                  </a:tcPr>
                </a:tc>
                <a:tc>
                  <a:txBody>
                    <a:bodyPr/>
                    <a:lstStyle/>
                    <a:p>
                      <a:r>
                        <a:rPr sz="1100" b="1">
                          <a:solidFill>
                            <a:srgbClr val="12283F"/>
                          </a:solidFill>
                          <a:latin typeface="Arial"/>
                        </a:rPr>
                        <a:t>minvar CAGR</a:t>
                      </a:r>
                    </a:p>
                  </a:txBody>
                  <a:tcPr>
                    <a:solidFill>
                      <a:srgbClr val="FBFAF7"/>
                    </a:solidFill>
                  </a:tcPr>
                </a:tc>
                <a:tc>
                  <a:txBody>
                    <a:bodyPr/>
                    <a:lstStyle/>
                    <a:p>
                      <a:r>
                        <a:rPr sz="1100" b="1">
                          <a:solidFill>
                            <a:srgbClr val="12283F"/>
                          </a:solidFill>
                          <a:latin typeface="Arial"/>
                        </a:rPr>
                        <a:t>1/N CAGR</a:t>
                      </a:r>
                    </a:p>
                  </a:txBody>
                  <a:tcPr>
                    <a:solidFill>
                      <a:srgbClr val="FBFAF7"/>
                    </a:solidFill>
                  </a:tcPr>
                </a:tc>
                <a:tc>
                  <a:txBody>
                    <a:bodyPr/>
                    <a:lstStyle/>
                    <a:p>
                      <a:r>
                        <a:rPr sz="1100" b="1">
                          <a:solidFill>
                            <a:srgbClr val="12283F"/>
                          </a:solidFill>
                          <a:latin typeface="Arial"/>
                        </a:rPr>
                        <a:t>minvar vol</a:t>
                      </a:r>
                    </a:p>
                  </a:txBody>
                  <a:tcPr>
                    <a:solidFill>
                      <a:srgbClr val="FBFAF7"/>
                    </a:solidFill>
                  </a:tcPr>
                </a:tc>
                <a:tc>
                  <a:txBody>
                    <a:bodyPr/>
                    <a:lstStyle/>
                    <a:p>
                      <a:r>
                        <a:rPr sz="1100" b="1">
                          <a:solidFill>
                            <a:srgbClr val="12283F"/>
                          </a:solidFill>
                          <a:latin typeface="Arial"/>
                        </a:rPr>
                        <a:t>1/N vol</a:t>
                      </a:r>
                    </a:p>
                  </a:txBody>
                  <a:tcPr>
                    <a:solidFill>
                      <a:srgbClr val="FBFAF7"/>
                    </a:solidFill>
                  </a:tcPr>
                </a:tc>
              </a:tr>
              <a:tr h="310896">
                <a:tc>
                  <a:txBody>
                    <a:bodyPr/>
                    <a:lstStyle/>
                    <a:p>
                      <a:r>
                        <a:rPr sz="1100" b="0">
                          <a:solidFill>
                            <a:srgbClr val="33475B"/>
                          </a:solidFill>
                          <a:latin typeface="Arial"/>
                        </a:rPr>
                        <a:t>2018-04..2019-12</a:t>
                      </a:r>
                    </a:p>
                  </a:txBody>
                  <a:tcPr>
                    <a:solidFill>
                      <a:srgbClr val="FBFAF7"/>
                    </a:solidFill>
                  </a:tcPr>
                </a:tc>
                <a:tc>
                  <a:txBody>
                    <a:bodyPr/>
                    <a:lstStyle/>
                    <a:p>
                      <a:r>
                        <a:rPr sz="1100" b="0">
                          <a:solidFill>
                            <a:srgbClr val="33475B"/>
                          </a:solidFill>
                          <a:latin typeface="Arial"/>
                        </a:rPr>
                        <a:t>calm market</a:t>
                      </a:r>
                    </a:p>
                  </a:txBody>
                  <a:tcPr>
                    <a:solidFill>
                      <a:srgbClr val="FBFAF7"/>
                    </a:solidFill>
                  </a:tcPr>
                </a:tc>
                <a:tc>
                  <a:txBody>
                    <a:bodyPr/>
                    <a:lstStyle/>
                    <a:p>
                      <a:r>
                        <a:rPr sz="1100" b="0">
                          <a:solidFill>
                            <a:srgbClr val="33475B"/>
                          </a:solidFill>
                          <a:latin typeface="Arial"/>
                        </a:rPr>
                        <a:t>+24.72%</a:t>
                      </a:r>
                    </a:p>
                  </a:txBody>
                  <a:tcPr>
                    <a:solidFill>
                      <a:srgbClr val="FBFAF7"/>
                    </a:solidFill>
                  </a:tcPr>
                </a:tc>
                <a:tc>
                  <a:txBody>
                    <a:bodyPr/>
                    <a:lstStyle/>
                    <a:p>
                      <a:r>
                        <a:rPr sz="1100" b="0">
                          <a:solidFill>
                            <a:srgbClr val="33475B"/>
                          </a:solidFill>
                          <a:latin typeface="Arial"/>
                        </a:rPr>
                        <a:t>+13.04%</a:t>
                      </a:r>
                    </a:p>
                  </a:txBody>
                  <a:tcPr>
                    <a:solidFill>
                      <a:srgbClr val="FBFAF7"/>
                    </a:solidFill>
                  </a:tcPr>
                </a:tc>
                <a:tc>
                  <a:txBody>
                    <a:bodyPr/>
                    <a:lstStyle/>
                    <a:p>
                      <a:r>
                        <a:rPr sz="1100" b="0">
                          <a:solidFill>
                            <a:srgbClr val="33475B"/>
                          </a:solidFill>
                          <a:latin typeface="Arial"/>
                        </a:rPr>
                        <a:t>14.15%</a:t>
                      </a:r>
                    </a:p>
                  </a:txBody>
                  <a:tcPr>
                    <a:solidFill>
                      <a:srgbClr val="FBFAF7"/>
                    </a:solidFill>
                  </a:tcPr>
                </a:tc>
                <a:tc>
                  <a:txBody>
                    <a:bodyPr/>
                    <a:lstStyle/>
                    <a:p>
                      <a:r>
                        <a:rPr sz="1100" b="0">
                          <a:solidFill>
                            <a:srgbClr val="33475B"/>
                          </a:solidFill>
                          <a:latin typeface="Arial"/>
                        </a:rPr>
                        <a:t>11.87%</a:t>
                      </a:r>
                    </a:p>
                  </a:txBody>
                  <a:tcPr>
                    <a:solidFill>
                      <a:srgbClr val="FBFAF7"/>
                    </a:solidFill>
                  </a:tcPr>
                </a:tc>
              </a:tr>
              <a:tr h="310896">
                <a:tc>
                  <a:txBody>
                    <a:bodyPr/>
                    <a:lstStyle/>
                    <a:p>
                      <a:r>
                        <a:rPr sz="1100" b="0">
                          <a:solidFill>
                            <a:srgbClr val="33475B"/>
                          </a:solidFill>
                          <a:latin typeface="Arial"/>
                        </a:rPr>
                        <a:t>2020 full year</a:t>
                      </a:r>
                    </a:p>
                  </a:txBody>
                  <a:tcPr>
                    <a:solidFill>
                      <a:srgbClr val="FBFAF7"/>
                    </a:solidFill>
                  </a:tcPr>
                </a:tc>
                <a:tc>
                  <a:txBody>
                    <a:bodyPr/>
                    <a:lstStyle/>
                    <a:p>
                      <a:r>
                        <a:rPr sz="1100" b="0">
                          <a:solidFill>
                            <a:srgbClr val="33475B"/>
                          </a:solidFill>
                          <a:latin typeface="Arial"/>
                        </a:rPr>
                        <a:t>crash and rebound</a:t>
                      </a:r>
                    </a:p>
                  </a:txBody>
                  <a:tcPr>
                    <a:solidFill>
                      <a:srgbClr val="FBFAF7"/>
                    </a:solidFill>
                  </a:tcPr>
                </a:tc>
                <a:tc>
                  <a:txBody>
                    <a:bodyPr/>
                    <a:lstStyle/>
                    <a:p>
                      <a:r>
                        <a:rPr sz="1100" b="0">
                          <a:solidFill>
                            <a:srgbClr val="33475B"/>
                          </a:solidFill>
                          <a:latin typeface="Arial"/>
                        </a:rPr>
                        <a:t>+3.82%</a:t>
                      </a:r>
                    </a:p>
                  </a:txBody>
                  <a:tcPr>
                    <a:solidFill>
                      <a:srgbClr val="FBFAF7"/>
                    </a:solidFill>
                  </a:tcPr>
                </a:tc>
                <a:tc>
                  <a:txBody>
                    <a:bodyPr/>
                    <a:lstStyle/>
                    <a:p>
                      <a:r>
                        <a:rPr sz="1100" b="0">
                          <a:solidFill>
                            <a:srgbClr val="33475B"/>
                          </a:solidFill>
                          <a:latin typeface="Arial"/>
                        </a:rPr>
                        <a:t>+18.09%</a:t>
                      </a:r>
                    </a:p>
                  </a:txBody>
                  <a:tcPr>
                    <a:solidFill>
                      <a:srgbClr val="FBFAF7"/>
                    </a:solidFill>
                  </a:tcPr>
                </a:tc>
                <a:tc>
                  <a:txBody>
                    <a:bodyPr/>
                    <a:lstStyle/>
                    <a:p>
                      <a:r>
                        <a:rPr sz="1100" b="0">
                          <a:solidFill>
                            <a:srgbClr val="33475B"/>
                          </a:solidFill>
                          <a:latin typeface="Arial"/>
                        </a:rPr>
                        <a:t>23.44%</a:t>
                      </a:r>
                    </a:p>
                  </a:txBody>
                  <a:tcPr>
                    <a:solidFill>
                      <a:srgbClr val="FBFAF7"/>
                    </a:solidFill>
                  </a:tcPr>
                </a:tc>
                <a:tc>
                  <a:txBody>
                    <a:bodyPr/>
                    <a:lstStyle/>
                    <a:p>
                      <a:r>
                        <a:rPr sz="1100" b="0">
                          <a:solidFill>
                            <a:srgbClr val="33475B"/>
                          </a:solidFill>
                          <a:latin typeface="Arial"/>
                        </a:rPr>
                        <a:t>30.78%</a:t>
                      </a:r>
                    </a:p>
                  </a:txBody>
                  <a:tcPr>
                    <a:solidFill>
                      <a:srgbClr val="FBFAF7"/>
                    </a:solidFill>
                  </a:tcPr>
                </a:tc>
              </a:tr>
              <a:tr h="310896">
                <a:tc>
                  <a:txBody>
                    <a:bodyPr/>
                    <a:lstStyle/>
                    <a:p>
                      <a:r>
                        <a:rPr sz="1100" b="0">
                          <a:solidFill>
                            <a:srgbClr val="33475B"/>
                          </a:solidFill>
                          <a:latin typeface="Arial"/>
                        </a:rPr>
                        <a:t>2020-02..2020-03</a:t>
                      </a:r>
                    </a:p>
                  </a:txBody>
                  <a:tcPr>
                    <a:solidFill>
                      <a:srgbClr val="FBFAF7"/>
                    </a:solidFill>
                  </a:tcPr>
                </a:tc>
                <a:tc>
                  <a:txBody>
                    <a:bodyPr/>
                    <a:lstStyle/>
                    <a:p>
                      <a:r>
                        <a:rPr sz="1100" b="0">
                          <a:solidFill>
                            <a:srgbClr val="33475B"/>
                          </a:solidFill>
                          <a:latin typeface="Arial"/>
                        </a:rPr>
                        <a:t>the crash itself</a:t>
                      </a:r>
                    </a:p>
                  </a:txBody>
                  <a:tcPr>
                    <a:solidFill>
                      <a:srgbClr val="FBFAF7"/>
                    </a:solidFill>
                  </a:tcPr>
                </a:tc>
                <a:tc>
                  <a:txBody>
                    <a:bodyPr/>
                    <a:lstStyle/>
                    <a:p>
                      <a:r>
                        <a:rPr sz="1100" b="0">
                          <a:solidFill>
                            <a:srgbClr val="33475B"/>
                          </a:solidFill>
                          <a:latin typeface="Arial"/>
                        </a:rPr>
                        <a:t>-87.48%</a:t>
                      </a:r>
                    </a:p>
                  </a:txBody>
                  <a:tcPr>
                    <a:solidFill>
                      <a:srgbClr val="FBFAF7"/>
                    </a:solidFill>
                  </a:tcPr>
                </a:tc>
                <a:tc>
                  <a:txBody>
                    <a:bodyPr/>
                    <a:lstStyle/>
                    <a:p>
                      <a:r>
                        <a:rPr sz="1100" b="0">
                          <a:solidFill>
                            <a:srgbClr val="33475B"/>
                          </a:solidFill>
                          <a:latin typeface="Arial"/>
                        </a:rPr>
                        <a:t>-94.20%</a:t>
                      </a:r>
                    </a:p>
                  </a:txBody>
                  <a:tcPr>
                    <a:solidFill>
                      <a:srgbClr val="FBFAF7"/>
                    </a:solidFill>
                  </a:tcPr>
                </a:tc>
                <a:tc>
                  <a:txBody>
                    <a:bodyPr/>
                    <a:lstStyle/>
                    <a:p>
                      <a:r>
                        <a:rPr sz="1100" b="0">
                          <a:solidFill>
                            <a:srgbClr val="33475B"/>
                          </a:solidFill>
                          <a:latin typeface="Arial"/>
                        </a:rPr>
                        <a:t>63.09%</a:t>
                      </a:r>
                    </a:p>
                  </a:txBody>
                  <a:tcPr>
                    <a:solidFill>
                      <a:srgbClr val="FBFAF7"/>
                    </a:solidFill>
                  </a:tcPr>
                </a:tc>
                <a:tc>
                  <a:txBody>
                    <a:bodyPr/>
                    <a:lstStyle/>
                    <a:p>
                      <a:r>
                        <a:rPr sz="1100" b="0">
                          <a:solidFill>
                            <a:srgbClr val="33475B"/>
                          </a:solidFill>
                          <a:latin typeface="Arial"/>
                        </a:rPr>
                        <a:t>66.91%</a:t>
                      </a:r>
                    </a:p>
                  </a:txBody>
                  <a:tcPr>
                    <a:solidFill>
                      <a:srgbClr val="FBFAF7"/>
                    </a:solidFill>
                  </a:tcPr>
                </a:tc>
              </a:tr>
              <a:tr h="310896">
                <a:tc>
                  <a:txBody>
                    <a:bodyPr/>
                    <a:lstStyle/>
                    <a:p>
                      <a:r>
                        <a:rPr sz="1100" b="0">
                          <a:solidFill>
                            <a:srgbClr val="33475B"/>
                          </a:solidFill>
                          <a:latin typeface="Arial"/>
                        </a:rPr>
                        <a:t>2021</a:t>
                      </a:r>
                    </a:p>
                  </a:txBody>
                  <a:tcPr>
                    <a:solidFill>
                      <a:srgbClr val="FBFAF7"/>
                    </a:solidFill>
                  </a:tcPr>
                </a:tc>
                <a:tc>
                  <a:txBody>
                    <a:bodyPr/>
                    <a:lstStyle/>
                    <a:p>
                      <a:r>
                        <a:rPr sz="1100" b="0">
                          <a:solidFill>
                            <a:srgbClr val="33475B"/>
                          </a:solidFill>
                          <a:latin typeface="Arial"/>
                        </a:rPr>
                        <a:t>boom</a:t>
                      </a:r>
                    </a:p>
                  </a:txBody>
                  <a:tcPr>
                    <a:solidFill>
                      <a:srgbClr val="FBFAF7"/>
                    </a:solidFill>
                  </a:tcPr>
                </a:tc>
                <a:tc>
                  <a:txBody>
                    <a:bodyPr/>
                    <a:lstStyle/>
                    <a:p>
                      <a:r>
                        <a:rPr sz="1100" b="0">
                          <a:solidFill>
                            <a:srgbClr val="33475B"/>
                          </a:solidFill>
                          <a:latin typeface="Arial"/>
                        </a:rPr>
                        <a:t>+11.25%</a:t>
                      </a:r>
                    </a:p>
                  </a:txBody>
                  <a:tcPr>
                    <a:solidFill>
                      <a:srgbClr val="FBFAF7"/>
                    </a:solidFill>
                  </a:tcPr>
                </a:tc>
                <a:tc>
                  <a:txBody>
                    <a:bodyPr/>
                    <a:lstStyle/>
                    <a:p>
                      <a:r>
                        <a:rPr sz="1100" b="0">
                          <a:solidFill>
                            <a:srgbClr val="33475B"/>
                          </a:solidFill>
                          <a:latin typeface="Arial"/>
                        </a:rPr>
                        <a:t>+24.50%</a:t>
                      </a:r>
                    </a:p>
                  </a:txBody>
                  <a:tcPr>
                    <a:solidFill>
                      <a:srgbClr val="FBFAF7"/>
                    </a:solidFill>
                  </a:tcPr>
                </a:tc>
                <a:tc>
                  <a:txBody>
                    <a:bodyPr/>
                    <a:lstStyle/>
                    <a:p>
                      <a:r>
                        <a:rPr sz="1100" b="0">
                          <a:solidFill>
                            <a:srgbClr val="33475B"/>
                          </a:solidFill>
                          <a:latin typeface="Arial"/>
                        </a:rPr>
                        <a:t>8.02%</a:t>
                      </a:r>
                    </a:p>
                  </a:txBody>
                  <a:tcPr>
                    <a:solidFill>
                      <a:srgbClr val="FBFAF7"/>
                    </a:solidFill>
                  </a:tcPr>
                </a:tc>
                <a:tc>
                  <a:txBody>
                    <a:bodyPr/>
                    <a:lstStyle/>
                    <a:p>
                      <a:r>
                        <a:rPr sz="1100" b="0">
                          <a:solidFill>
                            <a:srgbClr val="33475B"/>
                          </a:solidFill>
                          <a:latin typeface="Arial"/>
                        </a:rPr>
                        <a:t>11.47%</a:t>
                      </a:r>
                    </a:p>
                  </a:txBody>
                  <a:tcPr>
                    <a:solidFill>
                      <a:srgbClr val="FBFAF7"/>
                    </a:solidFill>
                  </a:tcPr>
                </a:tc>
              </a:tr>
              <a:tr h="310896">
                <a:tc>
                  <a:txBody>
                    <a:bodyPr/>
                    <a:lstStyle/>
                    <a:p>
                      <a:r>
                        <a:rPr sz="1100" b="0">
                          <a:solidFill>
                            <a:srgbClr val="33475B"/>
                          </a:solidFill>
                          <a:latin typeface="Arial"/>
                        </a:rPr>
                        <a:t>2022</a:t>
                      </a:r>
                    </a:p>
                  </a:txBody>
                  <a:tcPr>
                    <a:solidFill>
                      <a:srgbClr val="FBFAF7"/>
                    </a:solidFill>
                  </a:tcPr>
                </a:tc>
                <a:tc>
                  <a:txBody>
                    <a:bodyPr/>
                    <a:lstStyle/>
                    <a:p>
                      <a:r>
                        <a:rPr sz="1100" b="0">
                          <a:solidFill>
                            <a:srgbClr val="33475B"/>
                          </a:solidFill>
                          <a:latin typeface="Arial"/>
                        </a:rPr>
                        <a:t>inflation shock</a:t>
                      </a:r>
                    </a:p>
                  </a:txBody>
                  <a:tcPr>
                    <a:solidFill>
                      <a:srgbClr val="FBFAF7"/>
                    </a:solidFill>
                  </a:tcPr>
                </a:tc>
                <a:tc>
                  <a:txBody>
                    <a:bodyPr/>
                    <a:lstStyle/>
                    <a:p>
                      <a:r>
                        <a:rPr sz="1100" b="0">
                          <a:solidFill>
                            <a:srgbClr val="33475B"/>
                          </a:solidFill>
                          <a:latin typeface="Arial"/>
                        </a:rPr>
                        <a:t>-12.06%</a:t>
                      </a:r>
                    </a:p>
                  </a:txBody>
                  <a:tcPr>
                    <a:solidFill>
                      <a:srgbClr val="FBFAF7"/>
                    </a:solidFill>
                  </a:tcPr>
                </a:tc>
                <a:tc>
                  <a:txBody>
                    <a:bodyPr/>
                    <a:lstStyle/>
                    <a:p>
                      <a:r>
                        <a:rPr sz="1100" b="0">
                          <a:solidFill>
                            <a:srgbClr val="33475B"/>
                          </a:solidFill>
                          <a:latin typeface="Arial"/>
                        </a:rPr>
                        <a:t>-12.60%</a:t>
                      </a:r>
                    </a:p>
                  </a:txBody>
                  <a:tcPr>
                    <a:solidFill>
                      <a:srgbClr val="FBFAF7"/>
                    </a:solidFill>
                  </a:tcPr>
                </a:tc>
                <a:tc>
                  <a:txBody>
                    <a:bodyPr/>
                    <a:lstStyle/>
                    <a:p>
                      <a:r>
                        <a:rPr sz="1100" b="0">
                          <a:solidFill>
                            <a:srgbClr val="33475B"/>
                          </a:solidFill>
                          <a:latin typeface="Arial"/>
                        </a:rPr>
                        <a:t>13.61%</a:t>
                      </a:r>
                    </a:p>
                  </a:txBody>
                  <a:tcPr>
                    <a:solidFill>
                      <a:srgbClr val="FBFAF7"/>
                    </a:solidFill>
                  </a:tcPr>
                </a:tc>
                <a:tc>
                  <a:txBody>
                    <a:bodyPr/>
                    <a:lstStyle/>
                    <a:p>
                      <a:r>
                        <a:rPr sz="1100" b="0">
                          <a:solidFill>
                            <a:srgbClr val="33475B"/>
                          </a:solidFill>
                          <a:latin typeface="Arial"/>
                        </a:rPr>
                        <a:t>21.25%</a:t>
                      </a:r>
                    </a:p>
                  </a:txBody>
                  <a:tcPr>
                    <a:solidFill>
                      <a:srgbClr val="FBFAF7"/>
                    </a:solidFill>
                  </a:tcPr>
                </a:tc>
              </a:tr>
              <a:tr h="310896">
                <a:tc>
                  <a:txBody>
                    <a:bodyPr/>
                    <a:lstStyle/>
                    <a:p>
                      <a:r>
                        <a:rPr sz="1100" b="0">
                          <a:solidFill>
                            <a:srgbClr val="33475B"/>
                          </a:solidFill>
                          <a:latin typeface="Arial"/>
                        </a:rPr>
                        <a:t>2023-2025</a:t>
                      </a:r>
                    </a:p>
                  </a:txBody>
                  <a:tcPr>
                    <a:solidFill>
                      <a:srgbClr val="FBFAF7"/>
                    </a:solidFill>
                  </a:tcPr>
                </a:tc>
                <a:tc>
                  <a:txBody>
                    <a:bodyPr/>
                    <a:lstStyle/>
                    <a:p>
                      <a:r>
                        <a:rPr sz="1100" b="0">
                          <a:solidFill>
                            <a:srgbClr val="33475B"/>
                          </a:solidFill>
                          <a:latin typeface="Arial"/>
                        </a:rPr>
                        <a:t>AI rally</a:t>
                      </a:r>
                    </a:p>
                  </a:txBody>
                  <a:tcPr>
                    <a:solidFill>
                      <a:srgbClr val="FBFAF7"/>
                    </a:solidFill>
                  </a:tcPr>
                </a:tc>
                <a:tc>
                  <a:txBody>
                    <a:bodyPr/>
                    <a:lstStyle/>
                    <a:p>
                      <a:r>
                        <a:rPr sz="1100" b="0">
                          <a:solidFill>
                            <a:srgbClr val="33475B"/>
                          </a:solidFill>
                          <a:latin typeface="Arial"/>
                        </a:rPr>
                        <a:t>+14.30%</a:t>
                      </a:r>
                    </a:p>
                  </a:txBody>
                  <a:tcPr>
                    <a:solidFill>
                      <a:srgbClr val="FBFAF7"/>
                    </a:solidFill>
                  </a:tcPr>
                </a:tc>
                <a:tc>
                  <a:txBody>
                    <a:bodyPr/>
                    <a:lstStyle/>
                    <a:p>
                      <a:r>
                        <a:rPr sz="1100" b="0">
                          <a:solidFill>
                            <a:srgbClr val="33475B"/>
                          </a:solidFill>
                          <a:latin typeface="Arial"/>
                        </a:rPr>
                        <a:t>+21.48%</a:t>
                      </a:r>
                    </a:p>
                  </a:txBody>
                  <a:tcPr>
                    <a:solidFill>
                      <a:srgbClr val="FBFAF7"/>
                    </a:solidFill>
                  </a:tcPr>
                </a:tc>
                <a:tc>
                  <a:txBody>
                    <a:bodyPr/>
                    <a:lstStyle/>
                    <a:p>
                      <a:r>
                        <a:rPr sz="1100" b="0">
                          <a:solidFill>
                            <a:srgbClr val="33475B"/>
                          </a:solidFill>
                          <a:latin typeface="Arial"/>
                        </a:rPr>
                        <a:t>8.22%</a:t>
                      </a:r>
                    </a:p>
                  </a:txBody>
                  <a:tcPr>
                    <a:solidFill>
                      <a:srgbClr val="FBFAF7"/>
                    </a:solidFill>
                  </a:tcPr>
                </a:tc>
                <a:tc>
                  <a:txBody>
                    <a:bodyPr/>
                    <a:lstStyle/>
                    <a:p>
                      <a:r>
                        <a:rPr sz="1100" b="0">
                          <a:solidFill>
                            <a:srgbClr val="33475B"/>
                          </a:solidFill>
                          <a:latin typeface="Arial"/>
                        </a:rPr>
                        <a:t>12.19%</a:t>
                      </a:r>
                    </a:p>
                  </a:txBody>
                  <a:tcPr>
                    <a:solidFill>
                      <a:srgbClr val="FBFAF7"/>
                    </a:solidFill>
                  </a:tcPr>
                </a:tc>
              </a:tr>
              <a:tr h="310896">
                <a:tc>
                  <a:txBody>
                    <a:bodyPr/>
                    <a:lstStyle/>
                    <a:p>
                      <a:r>
                        <a:rPr sz="1100" b="0">
                          <a:solidFill>
                            <a:srgbClr val="33475B"/>
                          </a:solidFill>
                          <a:latin typeface="Arial"/>
                        </a:rPr>
                        <a:t>FULL</a:t>
                      </a:r>
                    </a:p>
                  </a:txBody>
                  <a:tcPr>
                    <a:solidFill>
                      <a:srgbClr val="FBFAF7"/>
                    </a:solidFill>
                  </a:tcPr>
                </a:tc>
                <a:tc>
                  <a:txBody>
                    <a:bodyPr/>
                    <a:lstStyle/>
                    <a:p>
                      <a:r>
                        <a:rPr sz="1100" b="0">
                          <a:solidFill>
                            <a:srgbClr val="33475B"/>
                          </a:solidFill>
                          <a:latin typeface="Arial"/>
                        </a:rPr>
                        <a:t>whole test period</a:t>
                      </a:r>
                    </a:p>
                  </a:txBody>
                  <a:tcPr>
                    <a:solidFill>
                      <a:srgbClr val="FBFAF7"/>
                    </a:solidFill>
                  </a:tcPr>
                </a:tc>
                <a:tc>
                  <a:txBody>
                    <a:bodyPr/>
                    <a:lstStyle/>
                    <a:p>
                      <a:r>
                        <a:rPr sz="1100" b="0">
                          <a:solidFill>
                            <a:srgbClr val="33475B"/>
                          </a:solidFill>
                          <a:latin typeface="Arial"/>
                        </a:rPr>
                        <a:t>+10.94%</a:t>
                      </a:r>
                    </a:p>
                  </a:txBody>
                  <a:tcPr>
                    <a:solidFill>
                      <a:srgbClr val="FBFAF7"/>
                    </a:solidFill>
                  </a:tcPr>
                </a:tc>
                <a:tc>
                  <a:txBody>
                    <a:bodyPr/>
                    <a:lstStyle/>
                    <a:p>
                      <a:r>
                        <a:rPr sz="1100" b="0">
                          <a:solidFill>
                            <a:srgbClr val="33475B"/>
                          </a:solidFill>
                          <a:latin typeface="Arial"/>
                        </a:rPr>
                        <a:t>+14.65%</a:t>
                      </a:r>
                    </a:p>
                  </a:txBody>
                  <a:tcPr>
                    <a:solidFill>
                      <a:srgbClr val="FBFAF7"/>
                    </a:solidFill>
                  </a:tcPr>
                </a:tc>
                <a:tc>
                  <a:txBody>
                    <a:bodyPr/>
                    <a:lstStyle/>
                    <a:p>
                      <a:r>
                        <a:rPr sz="1100" b="0">
                          <a:solidFill>
                            <a:srgbClr val="33475B"/>
                          </a:solidFill>
                          <a:latin typeface="Arial"/>
                        </a:rPr>
                        <a:t>13.20%</a:t>
                      </a:r>
                    </a:p>
                  </a:txBody>
                  <a:tcPr>
                    <a:solidFill>
                      <a:srgbClr val="FBFAF7"/>
                    </a:solidFill>
                  </a:tcPr>
                </a:tc>
                <a:tc>
                  <a:txBody>
                    <a:bodyPr/>
                    <a:lstStyle/>
                    <a:p>
                      <a:r>
                        <a:rPr sz="1100" b="0">
                          <a:solidFill>
                            <a:srgbClr val="33475B"/>
                          </a:solidFill>
                          <a:latin typeface="Arial"/>
                        </a:rPr>
                        <a:t>16.91%</a:t>
                      </a:r>
                    </a:p>
                  </a:txBody>
                  <a:tcPr>
                    <a:solidFill>
                      <a:srgbClr val="FBFAF7"/>
                    </a:solidFill>
                  </a:tcPr>
                </a:tc>
              </a:tr>
            </a:tbl>
          </a:graphicData>
        </a:graphic>
      </p:graphicFrame>
      <p:sp>
        <p:nvSpPr>
          <p:cNvPr id="5" name="TextBox 4"/>
          <p:cNvSpPr txBox="1"/>
          <p:nvPr/>
        </p:nvSpPr>
        <p:spPr>
          <a:xfrm>
            <a:off x="566928" y="3950208"/>
            <a:ext cx="10881360" cy="822960"/>
          </a:xfrm>
          <a:prstGeom prst="rect">
            <a:avLst/>
          </a:prstGeom>
          <a:noFill/>
        </p:spPr>
        <p:txBody>
          <a:bodyPr wrap="square" anchor="t">
            <a:spAutoFit/>
          </a:bodyPr>
          <a:lstStyle/>
          <a:p>
            <a:pPr algn="l">
              <a:lnSpc>
                <a:spcPct val="135000"/>
              </a:lnSpc>
            </a:pPr>
            <a:r>
              <a:rPr sz="1400" b="0" i="0">
                <a:solidFill>
                  <a:srgbClr val="33475B"/>
                </a:solidFill>
                <a:latin typeface="Arial"/>
              </a:rPr>
              <a:t>· Volatility lower in 5 of 6 sub-periods</a:t>
            </a:r>
          </a:p>
          <a:p>
            <a:pPr algn="l">
              <a:lnSpc>
                <a:spcPct val="135000"/>
              </a:lnSpc>
            </a:pPr>
            <a:r>
              <a:rPr sz="1400" b="0" i="0">
                <a:solidFill>
                  <a:srgbClr val="33475B"/>
                </a:solidFill>
                <a:latin typeface="Arial"/>
              </a:rPr>
              <a:t>· It wins the 2020 crash and the 2022 inflation shock</a:t>
            </a:r>
          </a:p>
          <a:p>
            <a:pPr algn="l">
              <a:lnSpc>
                <a:spcPct val="135000"/>
              </a:lnSpc>
            </a:pPr>
            <a:r>
              <a:rPr sz="1400" b="0" i="0">
                <a:solidFill>
                  <a:srgbClr val="33475B"/>
                </a:solidFill>
                <a:latin typeface="Arial"/>
              </a:rPr>
              <a:t>· It gives up the 2021 boom and the AI rally</a:t>
            </a:r>
          </a:p>
        </p:txBody>
      </p:sp>
      <p:sp>
        <p:nvSpPr>
          <p:cNvPr id="6" name="TextBox 5"/>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66928"/>
            <a:ext cx="10424160" cy="658368"/>
          </a:xfrm>
          <a:prstGeom prst="rect">
            <a:avLst/>
          </a:prstGeom>
          <a:noFill/>
        </p:spPr>
        <p:txBody>
          <a:bodyPr wrap="square" anchor="t">
            <a:spAutoFit/>
          </a:bodyPr>
          <a:lstStyle/>
          <a:p>
            <a:pPr algn="l">
              <a:lnSpc>
                <a:spcPct val="100000"/>
              </a:lnSpc>
            </a:pPr>
            <a:r>
              <a:rPr sz="3000" b="1" i="0">
                <a:solidFill>
                  <a:srgbClr val="12283F"/>
                </a:solidFill>
                <a:latin typeface="Arial"/>
              </a:rPr>
              <a:t>Tail risk, where the minimum-variance book earns its keep</a:t>
            </a:r>
          </a:p>
        </p:txBody>
      </p:sp>
      <p:pic>
        <p:nvPicPr>
          <p:cNvPr id="4" name="Picture 3" descr="b09_tail.png"/>
          <p:cNvPicPr>
            <a:picLocks noChangeAspect="1"/>
          </p:cNvPicPr>
          <p:nvPr/>
        </p:nvPicPr>
        <p:blipFill>
          <a:blip r:embed="rId2"/>
          <a:stretch>
            <a:fillRect/>
          </a:stretch>
        </p:blipFill>
        <p:spPr>
          <a:xfrm>
            <a:off x="566928" y="1835831"/>
            <a:ext cx="6903720" cy="3533809"/>
          </a:xfrm>
          <a:prstGeom prst="rect">
            <a:avLst/>
          </a:prstGeom>
        </p:spPr>
      </p:pic>
      <p:sp>
        <p:nvSpPr>
          <p:cNvPr id="5" name="TextBox 4"/>
          <p:cNvSpPr txBox="1"/>
          <p:nvPr/>
        </p:nvSpPr>
        <p:spPr>
          <a:xfrm>
            <a:off x="7726679" y="1399032"/>
            <a:ext cx="3794760" cy="2743200"/>
          </a:xfrm>
          <a:prstGeom prst="rect">
            <a:avLst/>
          </a:prstGeom>
          <a:noFill/>
        </p:spPr>
        <p:txBody>
          <a:bodyPr wrap="square" anchor="t">
            <a:spAutoFit/>
          </a:bodyPr>
          <a:lstStyle/>
          <a:p>
            <a:pPr algn="l">
              <a:lnSpc>
                <a:spcPct val="145000"/>
              </a:lnSpc>
            </a:pPr>
            <a:r>
              <a:rPr sz="1500" b="0" i="0">
                <a:solidFill>
                  <a:srgbClr val="33475B"/>
                </a:solidFill>
                <a:latin typeface="Arial"/>
              </a:rPr>
              <a:t>· CVaR 95 of -1.75% against -2.51% for 1/N</a:t>
            </a:r>
          </a:p>
          <a:p>
            <a:pPr algn="l">
              <a:lnSpc>
                <a:spcPct val="145000"/>
              </a:lnSpc>
            </a:pPr>
            <a:r>
              <a:rPr sz="1500" b="0" i="0">
                <a:solidFill>
                  <a:srgbClr val="33475B"/>
                </a:solidFill>
                <a:latin typeface="Arial"/>
              </a:rPr>
              <a:t>· The mean of the worst 5% of days</a:t>
            </a:r>
          </a:p>
          <a:p>
            <a:pPr algn="l">
              <a:lnSpc>
                <a:spcPct val="145000"/>
              </a:lnSpc>
            </a:pPr>
            <a:r>
              <a:rPr sz="1500" b="0" i="0">
                <a:solidFill>
                  <a:srgbClr val="33475B"/>
                </a:solidFill>
                <a:latin typeface="Arial"/>
              </a:rPr>
              <a:t>· The return-seeking books are worse than the benchmark</a:t>
            </a:r>
          </a:p>
        </p:txBody>
      </p:sp>
      <p:sp>
        <p:nvSpPr>
          <p:cNvPr id="6" name="TextBox 5"/>
          <p:cNvSpPr txBox="1"/>
          <p:nvPr/>
        </p:nvSpPr>
        <p:spPr>
          <a:xfrm>
            <a:off x="11231575" y="6455664"/>
            <a:ext cx="548640" cy="274320"/>
          </a:xfrm>
          <a:prstGeom prst="rect">
            <a:avLst/>
          </a:prstGeom>
          <a:noFill/>
        </p:spPr>
        <p:txBody>
          <a:bodyPr wrap="square" anchor="t">
            <a:spAutoFit/>
          </a:bodyPr>
          <a:lstStyle/>
          <a:p>
            <a:pPr algn="r">
              <a:lnSpc>
                <a:spcPct val="100000"/>
              </a:lnSpc>
            </a:pPr>
            <a:r>
              <a:rPr sz="1000" b="0" i="0">
                <a:solidFill>
                  <a:srgbClr val="7C8B99"/>
                </a:solidFill>
                <a:latin typeface="Arial"/>
              </a:rPr>
              <a:t>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